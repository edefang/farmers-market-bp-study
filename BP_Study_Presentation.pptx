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framing. Introduce the core question: does pairing produce with guidance change blood pressure outcomes, and does it matter whether that guidance is human or AI? Set up the stakes: dietitian time is expensive and limited, so if an AI assistant can capture even part of that benefit, it changes how food-as-medicine programs could scale. This talk covers the objective, methodology, key findings, and what it means going forward. Should take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abstract in plain terms: 300 people, three groups, real baseline health data with a synthetic study layer on top. The headline is that both guided groups beat control, and that holds even after statistically controlling for adherence. Then introduce the four hypotheses this talk will come back to and confirm or reject in the results section. Keep this to about 90 seconds; this slide is scene-setting, not the payoff.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four practical questions any technical reviewer will ask: where did the data come from, how was it cleaned, what methods were run, and why those methods specifically. Emphasize that the baseline health data is real (a 70,000-record cardiovascular dataset), while the study-design variables are synthetic because no real trial of this exact design exists yet. Explain briefly why ANCOVA matters: it is the tool that separates 'guidance works' from 'guided people just ate more.' Budget about 2 minutes here since it is the most technical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two charts on this slide by design, to keep it uncluttered. The left chart is the headline result: guided arms drop blood pressure more than control, with Dietitian ahead of AI Assistant. The right chart answers 'why': adherence to the produce plan has a strong, clean linear relationship with the outcome, confirmed by testing linear against polynomial fits rather than assuming it. Point out that this is pooled across all 300 participants. Spend about 2 minutes, since this is the visual core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interpretation slide, not a repeat of the charts. Confirm which hypotheses held up and which were only partially supported, and be direct about H4: Random Forest wins, but the size of that win is modest, and the real relationship between adherence and outcome is linear, which is itself a finding worth stating plainly. Flag the honest limitations clearly: synthetic outcome data, a weaker diastolic model, and the causal-forest stretch goal that was not run. This transparency is what makes the study credible. About 2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tying the whole talk back to one sentence: it is not enough to hand someone food, the guidance layered on top is what drives the outcome, and that guidance does not have to come from a human every time. Walk through the three recommendations briefly, and be honest that the next real step is replication on real trial data since everything shown today rests on a synthetic outcome layer over a real baseline cohort. End on the closing line, then open for questions. About 1.5 to 2 minutes, leaving room for Q&amp;A within the 10 to 12 minute window.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733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fs-logo-color-fa.png"/>
          <p:cNvPicPr>
            <a:picLocks noChangeAspect="1"/>
          </p:cNvPicPr>
          <p:nvPr/>
        </p:nvPicPr>
        <p:blipFill>
          <a:blip r:embed="rId2"/>
          <a:stretch>
            <a:fillRect/>
          </a:stretch>
        </p:blipFill>
        <p:spPr>
          <a:xfrm>
            <a:off x="10195560" y="640080"/>
            <a:ext cx="1371600" cy="1371600"/>
          </a:xfrm>
          <a:prstGeom prst="rect">
            <a:avLst/>
          </a:prstGeom>
        </p:spPr>
      </p:pic>
      <p:sp>
        <p:nvSpPr>
          <p:cNvPr id="5" name="TextBox 4"/>
          <p:cNvSpPr txBox="1"/>
          <p:nvPr/>
        </p:nvSpPr>
        <p:spPr>
          <a:xfrm>
            <a:off x="822960" y="777240"/>
            <a:ext cx="9052560" cy="365760"/>
          </a:xfrm>
          <a:prstGeom prst="rect">
            <a:avLst/>
          </a:prstGeom>
          <a:noFill/>
        </p:spPr>
        <p:txBody>
          <a:bodyPr wrap="square" anchor="t" lIns="0" rIns="0" tIns="0" bIns="0">
            <a:spAutoFit/>
          </a:bodyPr>
          <a:lstStyle/>
          <a:p>
            <a:r>
              <a:rPr sz="1400" b="1" i="0">
                <a:solidFill>
                  <a:srgbClr val="F2DFA0"/>
                </a:solidFill>
                <a:latin typeface="Calibri"/>
              </a:rPr>
              <a:t>RESEARCH PRESENTATION</a:t>
            </a:r>
          </a:p>
        </p:txBody>
      </p:sp>
      <p:sp>
        <p:nvSpPr>
          <p:cNvPr id="6" name="TextBox 5"/>
          <p:cNvSpPr txBox="1"/>
          <p:nvPr/>
        </p:nvSpPr>
        <p:spPr>
          <a:xfrm>
            <a:off x="777240" y="1097280"/>
            <a:ext cx="9144000" cy="1737360"/>
          </a:xfrm>
          <a:prstGeom prst="rect">
            <a:avLst/>
          </a:prstGeom>
          <a:noFill/>
        </p:spPr>
        <p:txBody>
          <a:bodyPr wrap="square" anchor="t" lIns="0" rIns="0" tIns="0" bIns="0">
            <a:spAutoFit/>
          </a:bodyPr>
          <a:lstStyle/>
          <a:p>
            <a:pPr>
              <a:lnSpc>
                <a:spcPct val="105000"/>
              </a:lnSpc>
            </a:pPr>
            <a:r>
              <a:rPr sz="4000" b="1" i="0">
                <a:solidFill>
                  <a:srgbClr val="FFFFFF"/>
                </a:solidFill>
                <a:latin typeface="Calibri"/>
              </a:rPr>
              <a:t>Guided Nutrition Support and Blood Pressure Outcomes</a:t>
            </a:r>
          </a:p>
        </p:txBody>
      </p:sp>
      <p:sp>
        <p:nvSpPr>
          <p:cNvPr id="7" name="Rectangle 6"/>
          <p:cNvSpPr/>
          <p:nvPr/>
        </p:nvSpPr>
        <p:spPr>
          <a:xfrm>
            <a:off x="822960" y="2697480"/>
            <a:ext cx="2194560" cy="381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880360"/>
            <a:ext cx="10424160" cy="548640"/>
          </a:xfrm>
          <a:prstGeom prst="rect">
            <a:avLst/>
          </a:prstGeom>
          <a:noFill/>
        </p:spPr>
        <p:txBody>
          <a:bodyPr wrap="square" anchor="t" lIns="0" rIns="0" tIns="0" bIns="0">
            <a:spAutoFit/>
          </a:bodyPr>
          <a:lstStyle/>
          <a:p>
            <a:r>
              <a:rPr sz="1800" b="0" i="1">
                <a:solidFill>
                  <a:srgbClr val="F2E3B0"/>
                </a:solidFill>
                <a:latin typeface="Calibri"/>
              </a:rPr>
              <a:t>Dietitian Counseling vs. an AI Nutrition Assistant vs. Unguided Farmer's-Market Produce Provision</a:t>
            </a:r>
          </a:p>
        </p:txBody>
      </p:sp>
      <p:sp>
        <p:nvSpPr>
          <p:cNvPr id="9" name="TextBox 8"/>
          <p:cNvSpPr txBox="1"/>
          <p:nvPr/>
        </p:nvSpPr>
        <p:spPr>
          <a:xfrm>
            <a:off x="822960" y="3657600"/>
            <a:ext cx="9875520" cy="2103120"/>
          </a:xfrm>
          <a:prstGeom prst="rect">
            <a:avLst/>
          </a:prstGeom>
          <a:noFill/>
        </p:spPr>
        <p:txBody>
          <a:bodyPr wrap="square" anchor="t" lIns="0" rIns="0" tIns="0" bIns="0">
            <a:spAutoFit/>
          </a:bodyPr>
          <a:lstStyle/>
          <a:p>
            <a:pPr algn="l">
              <a:lnSpc>
                <a:spcPct val="112000"/>
              </a:lnSpc>
              <a:spcAft>
                <a:spcPts val="1400"/>
              </a:spcAft>
            </a:pPr>
            <a:r>
              <a:rPr sz="1600" b="1" i="0">
                <a:solidFill>
                  <a:srgbClr val="EAC548"/>
                </a:solidFill>
                <a:latin typeface="Calibri"/>
              </a:rPr>
              <a:t>▪  </a:t>
            </a:r>
            <a:r>
              <a:rPr sz="1600" b="0" i="0">
                <a:solidFill>
                  <a:srgbClr val="F3ECDD"/>
                </a:solidFill>
                <a:latin typeface="Calibri"/>
              </a:rPr>
              <a:t>Produce-prescription programs are a growing food-as-medicine strategy for hypertension, but most just hand out food and hope for the best.</a:t>
            </a:r>
          </a:p>
          <a:p>
            <a:pPr algn="l">
              <a:lnSpc>
                <a:spcPct val="112000"/>
              </a:lnSpc>
              <a:spcAft>
                <a:spcPts val="1400"/>
              </a:spcAft>
            </a:pPr>
            <a:r>
              <a:rPr sz="1600" b="1" i="0">
                <a:solidFill>
                  <a:srgbClr val="EAC548"/>
                </a:solidFill>
                <a:latin typeface="Calibri"/>
              </a:rPr>
              <a:t>▪  </a:t>
            </a:r>
            <a:r>
              <a:rPr sz="1600" b="0" i="0">
                <a:solidFill>
                  <a:srgbClr val="F3ECDD"/>
                </a:solidFill>
                <a:latin typeface="Calibri"/>
              </a:rPr>
              <a:t>This study asks whether pairing produce with guidance, human or AI-delivered, actually improves outcomes over produce alone.</a:t>
            </a:r>
          </a:p>
          <a:p>
            <a:pPr algn="l">
              <a:lnSpc>
                <a:spcPct val="112000"/>
              </a:lnSpc>
              <a:spcAft>
                <a:spcPts val="1400"/>
              </a:spcAft>
            </a:pPr>
            <a:r>
              <a:rPr sz="1600" b="1" i="0">
                <a:solidFill>
                  <a:srgbClr val="EAC548"/>
                </a:solidFill>
                <a:latin typeface="Calibri"/>
              </a:rPr>
              <a:t>▪  </a:t>
            </a:r>
            <a:r>
              <a:rPr sz="1600" b="0" i="0">
                <a:solidFill>
                  <a:srgbClr val="F3ECDD"/>
                </a:solidFill>
                <a:latin typeface="Calibri"/>
              </a:rPr>
              <a:t>The motivation: dietitian access is costly and hard to scale. If AI guidance captures a meaningful share of that benefit, it points to a scalable path for food-as-medicine programs.</a:t>
            </a:r>
          </a:p>
        </p:txBody>
      </p:sp>
      <p:sp>
        <p:nvSpPr>
          <p:cNvPr id="10" name="Rectangle 9"/>
          <p:cNvSpPr/>
          <p:nvPr/>
        </p:nvSpPr>
        <p:spPr>
          <a:xfrm>
            <a:off x="822960" y="5989320"/>
            <a:ext cx="4023360" cy="19050"/>
          </a:xfrm>
          <a:prstGeom prst="rect">
            <a:avLst/>
          </a:prstGeom>
          <a:solidFill>
            <a:srgbClr val="9C6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6108192"/>
            <a:ext cx="5486400" cy="548640"/>
          </a:xfrm>
          <a:prstGeom prst="rect">
            <a:avLst/>
          </a:prstGeom>
          <a:noFill/>
        </p:spPr>
        <p:txBody>
          <a:bodyPr wrap="square" anchor="t" lIns="0" rIns="0" tIns="0" bIns="0">
            <a:spAutoFit/>
          </a:bodyPr>
          <a:lstStyle/>
          <a:p>
            <a:r>
              <a:rPr sz="1600" b="1" i="0">
                <a:solidFill>
                  <a:srgbClr val="FFFFFF"/>
                </a:solidFill>
                <a:latin typeface="Calibri"/>
              </a:rPr>
              <a:t>Tony</a:t>
            </a:r>
          </a:p>
          <a:p>
            <a:r>
              <a:rPr sz="1200" b="0" i="0">
                <a:solidFill>
                  <a:srgbClr val="E3D2B8"/>
                </a:solidFill>
                <a:latin typeface="Calibri"/>
              </a:rPr>
              <a:t>July 16,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733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381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fs-logo-color-fa.png"/>
          <p:cNvPicPr>
            <a:picLocks noChangeAspect="1"/>
          </p:cNvPicPr>
          <p:nvPr/>
        </p:nvPicPr>
        <p:blipFill>
          <a:blip r:embed="rId2"/>
          <a:stretch>
            <a:fillRect/>
          </a:stretch>
        </p:blipFill>
        <p:spPr>
          <a:xfrm>
            <a:off x="11109960" y="118872"/>
            <a:ext cx="813816" cy="813816"/>
          </a:xfrm>
          <a:prstGeom prst="rect">
            <a:avLst/>
          </a:prstGeom>
        </p:spPr>
      </p:pic>
      <p:sp>
        <p:nvSpPr>
          <p:cNvPr id="6" name="TextBox 5"/>
          <p:cNvSpPr txBox="1"/>
          <p:nvPr/>
        </p:nvSpPr>
        <p:spPr>
          <a:xfrm>
            <a:off x="502920" y="128016"/>
            <a:ext cx="8686800" cy="292608"/>
          </a:xfrm>
          <a:prstGeom prst="rect">
            <a:avLst/>
          </a:prstGeom>
          <a:noFill/>
        </p:spPr>
        <p:txBody>
          <a:bodyPr wrap="square" anchor="t" lIns="0" rIns="0" tIns="0" bIns="0">
            <a:spAutoFit/>
          </a:bodyPr>
          <a:lstStyle/>
          <a:p>
            <a:r>
              <a:rPr sz="1200" b="1" i="0">
                <a:solidFill>
                  <a:srgbClr val="F2DFA0"/>
                </a:solidFill>
                <a:latin typeface="Calibri"/>
              </a:rPr>
              <a:t>SECTION 01</a:t>
            </a:r>
          </a:p>
        </p:txBody>
      </p:sp>
      <p:sp>
        <p:nvSpPr>
          <p:cNvPr id="7" name="TextBox 6"/>
          <p:cNvSpPr txBox="1"/>
          <p:nvPr/>
        </p:nvSpPr>
        <p:spPr>
          <a:xfrm>
            <a:off x="502920" y="384048"/>
            <a:ext cx="10515600" cy="621792"/>
          </a:xfrm>
          <a:prstGeom prst="rect">
            <a:avLst/>
          </a:prstGeom>
          <a:noFill/>
        </p:spPr>
        <p:txBody>
          <a:bodyPr wrap="square" anchor="t" lIns="0" rIns="0" tIns="0" bIns="0">
            <a:spAutoFit/>
          </a:bodyPr>
          <a:lstStyle/>
          <a:p>
            <a:r>
              <a:rPr sz="2700" b="1" i="0">
                <a:solidFill>
                  <a:srgbClr val="FFFFFF"/>
                </a:solidFill>
                <a:latin typeface="Calibri"/>
              </a:rPr>
              <a:t>Abstract &amp; Research Objectives</a:t>
            </a:r>
          </a:p>
        </p:txBody>
      </p:sp>
      <p:sp>
        <p:nvSpPr>
          <p:cNvPr id="8" name="TextBox 7"/>
          <p:cNvSpPr txBox="1"/>
          <p:nvPr/>
        </p:nvSpPr>
        <p:spPr>
          <a:xfrm>
            <a:off x="10607040" y="6528816"/>
            <a:ext cx="1371600" cy="274320"/>
          </a:xfrm>
          <a:prstGeom prst="rect">
            <a:avLst/>
          </a:prstGeom>
          <a:noFill/>
        </p:spPr>
        <p:txBody>
          <a:bodyPr wrap="square" anchor="t" lIns="0" rIns="0" tIns="0" bIns="0">
            <a:spAutoFit/>
          </a:bodyPr>
          <a:lstStyle/>
          <a:p>
            <a:pPr algn="r"/>
            <a:r>
              <a:rPr sz="1000" b="0" i="0">
                <a:solidFill>
                  <a:srgbClr val="A8A8A8"/>
                </a:solidFill>
                <a:latin typeface="Calibri"/>
              </a:rPr>
              <a:t>2 / 6</a:t>
            </a:r>
          </a:p>
        </p:txBody>
      </p:sp>
      <p:sp>
        <p:nvSpPr>
          <p:cNvPr id="9" name="TextBox 8"/>
          <p:cNvSpPr txBox="1"/>
          <p:nvPr/>
        </p:nvSpPr>
        <p:spPr>
          <a:xfrm>
            <a:off x="502920" y="6528816"/>
            <a:ext cx="5486400" cy="274320"/>
          </a:xfrm>
          <a:prstGeom prst="rect">
            <a:avLst/>
          </a:prstGeom>
          <a:noFill/>
        </p:spPr>
        <p:txBody>
          <a:bodyPr wrap="square" anchor="t" lIns="0" rIns="0" tIns="0" bIns="0">
            <a:spAutoFit/>
          </a:bodyPr>
          <a:lstStyle/>
          <a:p>
            <a:r>
              <a:rPr sz="1000" b="0" i="0">
                <a:solidFill>
                  <a:srgbClr val="A8A8A8"/>
                </a:solidFill>
                <a:latin typeface="Calibri"/>
              </a:rPr>
              <a:t>Farmer's Market Produce &amp; Blood Pressure Study</a:t>
            </a:r>
          </a:p>
        </p:txBody>
      </p:sp>
      <p:sp>
        <p:nvSpPr>
          <p:cNvPr id="10" name="Rounded Rectangle 9"/>
          <p:cNvSpPr/>
          <p:nvPr/>
        </p:nvSpPr>
        <p:spPr>
          <a:xfrm>
            <a:off x="502920" y="1371600"/>
            <a:ext cx="5394960" cy="4937760"/>
          </a:xfrm>
          <a:prstGeom prst="roundRect">
            <a:avLst>
              <a:gd name="adj" fmla="val 35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27632"/>
            <a:ext cx="4754880" cy="365760"/>
          </a:xfrm>
          <a:prstGeom prst="rect">
            <a:avLst/>
          </a:prstGeom>
          <a:noFill/>
        </p:spPr>
        <p:txBody>
          <a:bodyPr wrap="square" anchor="t" lIns="0" rIns="0" tIns="0" bIns="0">
            <a:spAutoFit/>
          </a:bodyPr>
          <a:lstStyle/>
          <a:p>
            <a:r>
              <a:rPr sz="1700" b="1" i="0">
                <a:solidFill>
                  <a:srgbClr val="733837"/>
                </a:solidFill>
                <a:latin typeface="Calibri"/>
              </a:rPr>
              <a:t>Abstract at a Glance</a:t>
            </a:r>
          </a:p>
        </p:txBody>
      </p:sp>
      <p:sp>
        <p:nvSpPr>
          <p:cNvPr id="12" name="Rectangle 11"/>
          <p:cNvSpPr/>
          <p:nvPr/>
        </p:nvSpPr>
        <p:spPr>
          <a:xfrm>
            <a:off x="822960" y="2029968"/>
            <a:ext cx="914400" cy="31750"/>
          </a:xfrm>
          <a:prstGeom prst="rect">
            <a:avLst/>
          </a:prstGeom>
          <a:solidFill>
            <a:srgbClr val="B4C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40280"/>
            <a:ext cx="4754880" cy="3840480"/>
          </a:xfrm>
          <a:prstGeom prst="rect">
            <a:avLst/>
          </a:prstGeom>
          <a:noFill/>
        </p:spPr>
        <p:txBody>
          <a:bodyPr wrap="square" anchor="t" lIns="0" rIns="0" tIns="0" bIns="0">
            <a:spAutoFit/>
          </a:bodyPr>
          <a:lstStyle/>
          <a:p>
            <a:pPr algn="l">
              <a:lnSpc>
                <a:spcPct val="112000"/>
              </a:lnSpc>
              <a:spcAft>
                <a:spcPts val="1200"/>
              </a:spcAft>
            </a:pPr>
            <a:r>
              <a:rPr sz="1350" b="1" i="0">
                <a:solidFill>
                  <a:srgbClr val="B4C94B"/>
                </a:solidFill>
                <a:latin typeface="Calibri"/>
              </a:rPr>
              <a:t>▪  </a:t>
            </a:r>
            <a:r>
              <a:rPr sz="1350" b="1" i="0">
                <a:solidFill>
                  <a:srgbClr val="4A4A4A"/>
                </a:solidFill>
                <a:latin typeface="Calibri"/>
              </a:rPr>
              <a:t>300 participants, </a:t>
            </a:r>
            <a:r>
              <a:rPr sz="1350" b="0" i="0">
                <a:solidFill>
                  <a:srgbClr val="4A4A4A"/>
                </a:solidFill>
                <a:latin typeface="Calibri"/>
              </a:rPr>
              <a:t>3 arms (Dietitian, AI Assistant, Control), 100 each.</a:t>
            </a:r>
          </a:p>
          <a:p>
            <a:pPr algn="l">
              <a:lnSpc>
                <a:spcPct val="112000"/>
              </a:lnSpc>
              <a:spcAft>
                <a:spcPts val="1200"/>
              </a:spcAft>
            </a:pPr>
            <a:r>
              <a:rPr sz="1350" b="1" i="0">
                <a:solidFill>
                  <a:srgbClr val="B4C94B"/>
                </a:solidFill>
                <a:latin typeface="Calibri"/>
              </a:rPr>
              <a:t>▪  </a:t>
            </a:r>
            <a:r>
              <a:rPr sz="1350" b="1" i="0">
                <a:solidFill>
                  <a:srgbClr val="4A4A4A"/>
                </a:solidFill>
                <a:latin typeface="Calibri"/>
              </a:rPr>
              <a:t>Real baseline + synthetic study layer: </a:t>
            </a:r>
            <a:r>
              <a:rPr sz="1350" b="0" i="0">
                <a:solidFill>
                  <a:srgbClr val="4A4A4A"/>
                </a:solidFill>
                <a:latin typeface="Calibri"/>
              </a:rPr>
              <a:t>demographics/BP from a real 70,000-record cardiovascular cohort.</a:t>
            </a:r>
          </a:p>
          <a:p>
            <a:pPr algn="l">
              <a:lnSpc>
                <a:spcPct val="112000"/>
              </a:lnSpc>
              <a:spcAft>
                <a:spcPts val="1200"/>
              </a:spcAft>
            </a:pPr>
            <a:r>
              <a:rPr sz="1350" b="1" i="0">
                <a:solidFill>
                  <a:srgbClr val="B4C94B"/>
                </a:solidFill>
                <a:latin typeface="Calibri"/>
              </a:rPr>
              <a:t>▪  </a:t>
            </a:r>
            <a:r>
              <a:rPr sz="1350" b="1" i="0">
                <a:solidFill>
                  <a:srgbClr val="4A4A4A"/>
                </a:solidFill>
                <a:latin typeface="Calibri"/>
              </a:rPr>
              <a:t>Both guided arms beat control </a:t>
            </a:r>
            <a:r>
              <a:rPr sz="1350" b="0" i="0">
                <a:solidFill>
                  <a:srgbClr val="4A4A4A"/>
                </a:solidFill>
                <a:latin typeface="Calibri"/>
              </a:rPr>
              <a:t>on BP reduction (ANOVA, p &lt; 0.001 for both outcomes).</a:t>
            </a:r>
          </a:p>
          <a:p>
            <a:pPr algn="l">
              <a:lnSpc>
                <a:spcPct val="112000"/>
              </a:lnSpc>
              <a:spcAft>
                <a:spcPts val="1200"/>
              </a:spcAft>
            </a:pPr>
            <a:r>
              <a:rPr sz="1350" b="1" i="0">
                <a:solidFill>
                  <a:srgbClr val="B4C94B"/>
                </a:solidFill>
                <a:latin typeface="Calibri"/>
              </a:rPr>
              <a:t>▪  </a:t>
            </a:r>
            <a:r>
              <a:rPr sz="1350" b="1" i="0">
                <a:solidFill>
                  <a:srgbClr val="4A4A4A"/>
                </a:solidFill>
                <a:latin typeface="Calibri"/>
              </a:rPr>
              <a:t>Effect survives adjustment </a:t>
            </a:r>
            <a:r>
              <a:rPr sz="1350" b="0" i="0">
                <a:solidFill>
                  <a:srgbClr val="4A4A4A"/>
                </a:solidFill>
                <a:latin typeface="Calibri"/>
              </a:rPr>
              <a:t>for adherence and baseline BP (ANCOVA), not just an adherence artifact.</a:t>
            </a:r>
          </a:p>
          <a:p>
            <a:pPr algn="l">
              <a:lnSpc>
                <a:spcPct val="112000"/>
              </a:lnSpc>
              <a:spcAft>
                <a:spcPts val="1200"/>
              </a:spcAft>
            </a:pPr>
            <a:r>
              <a:rPr sz="1350" b="1" i="0">
                <a:solidFill>
                  <a:srgbClr val="B4C94B"/>
                </a:solidFill>
                <a:latin typeface="Calibri"/>
              </a:rPr>
              <a:t>▪  </a:t>
            </a:r>
            <a:r>
              <a:rPr sz="1350" b="1" i="0">
                <a:solidFill>
                  <a:srgbClr val="4A4A4A"/>
                </a:solidFill>
                <a:latin typeface="Calibri"/>
              </a:rPr>
              <a:t>Adherence is the strongest predictor </a:t>
            </a:r>
            <a:r>
              <a:rPr sz="1350" b="0" i="0">
                <a:solidFill>
                  <a:srgbClr val="4A4A4A"/>
                </a:solidFill>
                <a:latin typeface="Calibri"/>
              </a:rPr>
              <a:t>in every model tested, and the relationship is linear, not curved.</a:t>
            </a:r>
          </a:p>
        </p:txBody>
      </p:sp>
      <p:sp>
        <p:nvSpPr>
          <p:cNvPr id="14" name="Rounded Rectangle 13"/>
          <p:cNvSpPr/>
          <p:nvPr/>
        </p:nvSpPr>
        <p:spPr>
          <a:xfrm>
            <a:off x="6263640" y="1371600"/>
            <a:ext cx="5394960" cy="4937760"/>
          </a:xfrm>
          <a:prstGeom prst="roundRect">
            <a:avLst>
              <a:gd name="adj" fmla="val 35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27632"/>
            <a:ext cx="4754880" cy="365760"/>
          </a:xfrm>
          <a:prstGeom prst="rect">
            <a:avLst/>
          </a:prstGeom>
          <a:noFill/>
        </p:spPr>
        <p:txBody>
          <a:bodyPr wrap="square" anchor="t" lIns="0" rIns="0" tIns="0" bIns="0">
            <a:spAutoFit/>
          </a:bodyPr>
          <a:lstStyle/>
          <a:p>
            <a:r>
              <a:rPr sz="1700" b="1" i="0">
                <a:solidFill>
                  <a:srgbClr val="733837"/>
                </a:solidFill>
                <a:latin typeface="Calibri"/>
              </a:rPr>
              <a:t>Research Questions &amp; Hypotheses</a:t>
            </a:r>
          </a:p>
        </p:txBody>
      </p:sp>
      <p:sp>
        <p:nvSpPr>
          <p:cNvPr id="16" name="Rectangle 15"/>
          <p:cNvSpPr/>
          <p:nvPr/>
        </p:nvSpPr>
        <p:spPr>
          <a:xfrm>
            <a:off x="6583680" y="2029968"/>
            <a:ext cx="914400" cy="3175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2240280"/>
            <a:ext cx="4754880" cy="3840480"/>
          </a:xfrm>
          <a:prstGeom prst="rect">
            <a:avLst/>
          </a:prstGeom>
          <a:noFill/>
        </p:spPr>
        <p:txBody>
          <a:bodyPr wrap="square" anchor="t" lIns="0" rIns="0" tIns="0" bIns="0">
            <a:spAutoFit/>
          </a:bodyPr>
          <a:lstStyle/>
          <a:p>
            <a:pPr algn="l">
              <a:lnSpc>
                <a:spcPct val="112000"/>
              </a:lnSpc>
              <a:spcAft>
                <a:spcPts val="1200"/>
              </a:spcAft>
            </a:pPr>
            <a:r>
              <a:rPr sz="1350" b="1" i="0">
                <a:solidFill>
                  <a:srgbClr val="EAC548"/>
                </a:solidFill>
                <a:latin typeface="Calibri"/>
              </a:rPr>
              <a:t>▪  </a:t>
            </a:r>
            <a:r>
              <a:rPr sz="1350" b="1" i="0">
                <a:solidFill>
                  <a:srgbClr val="4A4A4A"/>
                </a:solidFill>
                <a:latin typeface="Calibri"/>
              </a:rPr>
              <a:t>Core question: </a:t>
            </a:r>
            <a:r>
              <a:rPr sz="1350" b="0" i="0">
                <a:solidFill>
                  <a:srgbClr val="4A4A4A"/>
                </a:solidFill>
                <a:latin typeface="Calibri"/>
              </a:rPr>
              <a:t>does guidance (human or AI) on top of produce provision change BP outcomes?</a:t>
            </a:r>
          </a:p>
          <a:p>
            <a:pPr algn="l">
              <a:lnSpc>
                <a:spcPct val="112000"/>
              </a:lnSpc>
              <a:spcAft>
                <a:spcPts val="1200"/>
              </a:spcAft>
            </a:pPr>
            <a:r>
              <a:rPr sz="1350" b="1" i="0">
                <a:solidFill>
                  <a:srgbClr val="EAC548"/>
                </a:solidFill>
                <a:latin typeface="Calibri"/>
              </a:rPr>
              <a:t>▪  </a:t>
            </a:r>
            <a:r>
              <a:rPr sz="1350" b="1" i="0">
                <a:solidFill>
                  <a:srgbClr val="4A4A4A"/>
                </a:solidFill>
                <a:latin typeface="Calibri"/>
              </a:rPr>
              <a:t>H1: </a:t>
            </a:r>
            <a:r>
              <a:rPr sz="1350" b="0" i="0">
                <a:solidFill>
                  <a:srgbClr val="4A4A4A"/>
                </a:solidFill>
                <a:latin typeface="Calibri"/>
              </a:rPr>
              <a:t>guided support produces significantly greater BP reduction than unguided provision.</a:t>
            </a:r>
          </a:p>
          <a:p>
            <a:pPr algn="l">
              <a:lnSpc>
                <a:spcPct val="112000"/>
              </a:lnSpc>
              <a:spcAft>
                <a:spcPts val="1200"/>
              </a:spcAft>
            </a:pPr>
            <a:r>
              <a:rPr sz="1350" b="1" i="0">
                <a:solidFill>
                  <a:srgbClr val="EAC548"/>
                </a:solidFill>
                <a:latin typeface="Calibri"/>
              </a:rPr>
              <a:t>▪  </a:t>
            </a:r>
            <a:r>
              <a:rPr sz="1350" b="1" i="0">
                <a:solidFill>
                  <a:srgbClr val="4A4A4A"/>
                </a:solidFill>
                <a:latin typeface="Calibri"/>
              </a:rPr>
              <a:t>H2: </a:t>
            </a:r>
            <a:r>
              <a:rPr sz="1350" b="0" i="0">
                <a:solidFill>
                  <a:srgbClr val="4A4A4A"/>
                </a:solidFill>
                <a:latin typeface="Calibri"/>
              </a:rPr>
              <a:t>the group effect is not fully explained by adherence alone.</a:t>
            </a:r>
          </a:p>
          <a:p>
            <a:pPr algn="l">
              <a:lnSpc>
                <a:spcPct val="112000"/>
              </a:lnSpc>
              <a:spcAft>
                <a:spcPts val="1200"/>
              </a:spcAft>
            </a:pPr>
            <a:r>
              <a:rPr sz="1350" b="1" i="0">
                <a:solidFill>
                  <a:srgbClr val="EAC548"/>
                </a:solidFill>
                <a:latin typeface="Calibri"/>
              </a:rPr>
              <a:t>▪  </a:t>
            </a:r>
            <a:r>
              <a:rPr sz="1350" b="1" i="0">
                <a:solidFill>
                  <a:srgbClr val="4A4A4A"/>
                </a:solidFill>
                <a:latin typeface="Calibri"/>
              </a:rPr>
              <a:t>H3: </a:t>
            </a:r>
            <a:r>
              <a:rPr sz="1350" b="0" i="0">
                <a:solidFill>
                  <a:srgbClr val="4A4A4A"/>
                </a:solidFill>
                <a:latin typeface="Calibri"/>
              </a:rPr>
              <a:t>adherence percentage is the strongest single predictor of BP change.</a:t>
            </a:r>
          </a:p>
          <a:p>
            <a:pPr algn="l">
              <a:lnSpc>
                <a:spcPct val="112000"/>
              </a:lnSpc>
              <a:spcAft>
                <a:spcPts val="1200"/>
              </a:spcAft>
            </a:pPr>
            <a:r>
              <a:rPr sz="1350" b="1" i="0">
                <a:solidFill>
                  <a:srgbClr val="EAC548"/>
                </a:solidFill>
                <a:latin typeface="Calibri"/>
              </a:rPr>
              <a:t>▪  </a:t>
            </a:r>
            <a:r>
              <a:rPr sz="1350" b="1" i="0">
                <a:solidFill>
                  <a:srgbClr val="4A4A4A"/>
                </a:solidFill>
                <a:latin typeface="Calibri"/>
              </a:rPr>
              <a:t>H4: </a:t>
            </a:r>
            <a:r>
              <a:rPr sz="1350" b="0" i="0">
                <a:solidFill>
                  <a:srgbClr val="4A4A4A"/>
                </a:solidFill>
                <a:latin typeface="Calibri"/>
              </a:rPr>
              <a:t>a tree-based model outperforms linear baselines, given the feature count.</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733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381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fs-logo-color-fa.png"/>
          <p:cNvPicPr>
            <a:picLocks noChangeAspect="1"/>
          </p:cNvPicPr>
          <p:nvPr/>
        </p:nvPicPr>
        <p:blipFill>
          <a:blip r:embed="rId2"/>
          <a:stretch>
            <a:fillRect/>
          </a:stretch>
        </p:blipFill>
        <p:spPr>
          <a:xfrm>
            <a:off x="11109960" y="118872"/>
            <a:ext cx="813816" cy="813816"/>
          </a:xfrm>
          <a:prstGeom prst="rect">
            <a:avLst/>
          </a:prstGeom>
        </p:spPr>
      </p:pic>
      <p:sp>
        <p:nvSpPr>
          <p:cNvPr id="6" name="TextBox 5"/>
          <p:cNvSpPr txBox="1"/>
          <p:nvPr/>
        </p:nvSpPr>
        <p:spPr>
          <a:xfrm>
            <a:off x="502920" y="128016"/>
            <a:ext cx="8686800" cy="292608"/>
          </a:xfrm>
          <a:prstGeom prst="rect">
            <a:avLst/>
          </a:prstGeom>
          <a:noFill/>
        </p:spPr>
        <p:txBody>
          <a:bodyPr wrap="square" anchor="t" lIns="0" rIns="0" tIns="0" bIns="0">
            <a:spAutoFit/>
          </a:bodyPr>
          <a:lstStyle/>
          <a:p>
            <a:r>
              <a:rPr sz="1200" b="1" i="0">
                <a:solidFill>
                  <a:srgbClr val="F2DFA0"/>
                </a:solidFill>
                <a:latin typeface="Calibri"/>
              </a:rPr>
              <a:t>SECTION 02</a:t>
            </a:r>
          </a:p>
        </p:txBody>
      </p:sp>
      <p:sp>
        <p:nvSpPr>
          <p:cNvPr id="7" name="TextBox 6"/>
          <p:cNvSpPr txBox="1"/>
          <p:nvPr/>
        </p:nvSpPr>
        <p:spPr>
          <a:xfrm>
            <a:off x="502920" y="384048"/>
            <a:ext cx="10515600" cy="621792"/>
          </a:xfrm>
          <a:prstGeom prst="rect">
            <a:avLst/>
          </a:prstGeom>
          <a:noFill/>
        </p:spPr>
        <p:txBody>
          <a:bodyPr wrap="square" anchor="t" lIns="0" rIns="0" tIns="0" bIns="0">
            <a:spAutoFit/>
          </a:bodyPr>
          <a:lstStyle/>
          <a:p>
            <a:r>
              <a:rPr sz="2700" b="1" i="0">
                <a:solidFill>
                  <a:srgbClr val="FFFFFF"/>
                </a:solidFill>
                <a:latin typeface="Calibri"/>
              </a:rPr>
              <a:t>Data &amp; Methodology</a:t>
            </a:r>
          </a:p>
        </p:txBody>
      </p:sp>
      <p:sp>
        <p:nvSpPr>
          <p:cNvPr id="8" name="TextBox 7"/>
          <p:cNvSpPr txBox="1"/>
          <p:nvPr/>
        </p:nvSpPr>
        <p:spPr>
          <a:xfrm>
            <a:off x="10607040" y="6528816"/>
            <a:ext cx="1371600" cy="274320"/>
          </a:xfrm>
          <a:prstGeom prst="rect">
            <a:avLst/>
          </a:prstGeom>
          <a:noFill/>
        </p:spPr>
        <p:txBody>
          <a:bodyPr wrap="square" anchor="t" lIns="0" rIns="0" tIns="0" bIns="0">
            <a:spAutoFit/>
          </a:bodyPr>
          <a:lstStyle/>
          <a:p>
            <a:pPr algn="r"/>
            <a:r>
              <a:rPr sz="1000" b="0" i="0">
                <a:solidFill>
                  <a:srgbClr val="A8A8A8"/>
                </a:solidFill>
                <a:latin typeface="Calibri"/>
              </a:rPr>
              <a:t>3 / 6</a:t>
            </a:r>
          </a:p>
        </p:txBody>
      </p:sp>
      <p:sp>
        <p:nvSpPr>
          <p:cNvPr id="9" name="TextBox 8"/>
          <p:cNvSpPr txBox="1"/>
          <p:nvPr/>
        </p:nvSpPr>
        <p:spPr>
          <a:xfrm>
            <a:off x="502920" y="6528816"/>
            <a:ext cx="5486400" cy="274320"/>
          </a:xfrm>
          <a:prstGeom prst="rect">
            <a:avLst/>
          </a:prstGeom>
          <a:noFill/>
        </p:spPr>
        <p:txBody>
          <a:bodyPr wrap="square" anchor="t" lIns="0" rIns="0" tIns="0" bIns="0">
            <a:spAutoFit/>
          </a:bodyPr>
          <a:lstStyle/>
          <a:p>
            <a:r>
              <a:rPr sz="1000" b="0" i="0">
                <a:solidFill>
                  <a:srgbClr val="A8A8A8"/>
                </a:solidFill>
                <a:latin typeface="Calibri"/>
              </a:rPr>
              <a:t>Farmer's Market Produce &amp; Blood Pressure Study</a:t>
            </a:r>
          </a:p>
        </p:txBody>
      </p:sp>
      <p:sp>
        <p:nvSpPr>
          <p:cNvPr id="10" name="Rounded Rectangle 9"/>
          <p:cNvSpPr/>
          <p:nvPr/>
        </p:nvSpPr>
        <p:spPr>
          <a:xfrm>
            <a:off x="502920" y="1325880"/>
            <a:ext cx="5394960" cy="2331720"/>
          </a:xfrm>
          <a:prstGeom prst="roundRect">
            <a:avLst>
              <a:gd name="adj" fmla="val 50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82296" cy="2331720"/>
          </a:xfrm>
          <a:prstGeom prst="rect">
            <a:avLst/>
          </a:prstGeom>
          <a:solidFill>
            <a:srgbClr val="B4C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1490472"/>
            <a:ext cx="4846320" cy="320040"/>
          </a:xfrm>
          <a:prstGeom prst="rect">
            <a:avLst/>
          </a:prstGeom>
          <a:noFill/>
        </p:spPr>
        <p:txBody>
          <a:bodyPr wrap="square" anchor="t" lIns="0" rIns="0" tIns="0" bIns="0">
            <a:spAutoFit/>
          </a:bodyPr>
          <a:lstStyle/>
          <a:p>
            <a:r>
              <a:rPr sz="1550" b="1" i="0">
                <a:solidFill>
                  <a:srgbClr val="733837"/>
                </a:solidFill>
                <a:latin typeface="Calibri"/>
              </a:rPr>
              <a:t>Dataset</a:t>
            </a:r>
          </a:p>
        </p:txBody>
      </p:sp>
      <p:sp>
        <p:nvSpPr>
          <p:cNvPr id="13" name="TextBox 12"/>
          <p:cNvSpPr txBox="1"/>
          <p:nvPr/>
        </p:nvSpPr>
        <p:spPr>
          <a:xfrm>
            <a:off x="795528" y="1892808"/>
            <a:ext cx="4846320" cy="1600200"/>
          </a:xfrm>
          <a:prstGeom prst="rect">
            <a:avLst/>
          </a:prstGeom>
          <a:noFill/>
        </p:spPr>
        <p:txBody>
          <a:bodyPr wrap="square" anchor="t" lIns="0" rIns="0" tIns="0" bIns="0">
            <a:spAutoFit/>
          </a:bodyPr>
          <a:lstStyle/>
          <a:p>
            <a:pPr algn="l">
              <a:lnSpc>
                <a:spcPct val="108000"/>
              </a:lnSpc>
              <a:spcAft>
                <a:spcPts val="700"/>
              </a:spcAft>
            </a:pPr>
            <a:r>
              <a:rPr sz="1200" b="1" i="0">
                <a:solidFill>
                  <a:srgbClr val="B4C94B"/>
                </a:solidFill>
                <a:latin typeface="Calibri"/>
              </a:rPr>
              <a:t>▪  </a:t>
            </a:r>
            <a:r>
              <a:rPr sz="1200" b="1" i="0">
                <a:solidFill>
                  <a:srgbClr val="4A4A4A"/>
                </a:solidFill>
                <a:latin typeface="Calibri"/>
              </a:rPr>
              <a:t>300 rows, 57 columns. </a:t>
            </a:r>
            <a:r>
              <a:rPr sz="1200" b="0" i="0">
                <a:solidFill>
                  <a:srgbClr val="4A4A4A"/>
                </a:solidFill>
                <a:latin typeface="Calibri"/>
              </a:rPr>
              <a:t>100 participants per arm, no missing values.</a:t>
            </a:r>
          </a:p>
          <a:p>
            <a:pPr algn="l">
              <a:lnSpc>
                <a:spcPct val="108000"/>
              </a:lnSpc>
              <a:spcAft>
                <a:spcPts val="700"/>
              </a:spcAft>
            </a:pPr>
            <a:r>
              <a:rPr sz="1200" b="1" i="0">
                <a:solidFill>
                  <a:srgbClr val="B4C94B"/>
                </a:solidFill>
                <a:latin typeface="Calibri"/>
              </a:rPr>
              <a:t>▪  </a:t>
            </a:r>
            <a:r>
              <a:rPr sz="1200" b="1" i="0">
                <a:solidFill>
                  <a:srgbClr val="4A4A4A"/>
                </a:solidFill>
                <a:latin typeface="Calibri"/>
              </a:rPr>
              <a:t>Baseline (real): </a:t>
            </a:r>
            <a:r>
              <a:rPr sz="1200" b="0" i="0">
                <a:solidFill>
                  <a:srgbClr val="4A4A4A"/>
                </a:solidFill>
                <a:latin typeface="Calibri"/>
              </a:rPr>
              <a:t>age, sex, BMI, cholesterol, glucose, smoking, activity, baseline BP.</a:t>
            </a:r>
          </a:p>
          <a:p>
            <a:pPr algn="l">
              <a:lnSpc>
                <a:spcPct val="108000"/>
              </a:lnSpc>
              <a:spcAft>
                <a:spcPts val="700"/>
              </a:spcAft>
            </a:pPr>
            <a:r>
              <a:rPr sz="1200" b="1" i="0">
                <a:solidFill>
                  <a:srgbClr val="B4C94B"/>
                </a:solidFill>
                <a:latin typeface="Calibri"/>
              </a:rPr>
              <a:t>▪  </a:t>
            </a:r>
            <a:r>
              <a:rPr sz="1200" b="1" i="0">
                <a:solidFill>
                  <a:srgbClr val="4A4A4A"/>
                </a:solidFill>
                <a:latin typeface="Calibri"/>
              </a:rPr>
              <a:t>Study layer (synthetic): </a:t>
            </a:r>
            <a:r>
              <a:rPr sz="1200" b="0" i="0">
                <a:solidFill>
                  <a:srgbClr val="4A4A4A"/>
                </a:solidFill>
                <a:latin typeface="Calibri"/>
              </a:rPr>
              <a:t>group, 34 produce_item_kg columns, adherence %, guidance sessions, follow-up BP.</a:t>
            </a:r>
          </a:p>
        </p:txBody>
      </p:sp>
      <p:sp>
        <p:nvSpPr>
          <p:cNvPr id="14" name="Rounded Rectangle 13"/>
          <p:cNvSpPr/>
          <p:nvPr/>
        </p:nvSpPr>
        <p:spPr>
          <a:xfrm>
            <a:off x="6217920" y="1325880"/>
            <a:ext cx="5394960" cy="2331720"/>
          </a:xfrm>
          <a:prstGeom prst="roundRect">
            <a:avLst>
              <a:gd name="adj" fmla="val 50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325880"/>
            <a:ext cx="82296" cy="233172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0528" y="1490472"/>
            <a:ext cx="4846320" cy="320040"/>
          </a:xfrm>
          <a:prstGeom prst="rect">
            <a:avLst/>
          </a:prstGeom>
          <a:noFill/>
        </p:spPr>
        <p:txBody>
          <a:bodyPr wrap="square" anchor="t" lIns="0" rIns="0" tIns="0" bIns="0">
            <a:spAutoFit/>
          </a:bodyPr>
          <a:lstStyle/>
          <a:p>
            <a:r>
              <a:rPr sz="1550" b="1" i="0">
                <a:solidFill>
                  <a:srgbClr val="733837"/>
                </a:solidFill>
                <a:latin typeface="Calibri"/>
              </a:rPr>
              <a:t>Data Preparation</a:t>
            </a:r>
          </a:p>
        </p:txBody>
      </p:sp>
      <p:sp>
        <p:nvSpPr>
          <p:cNvPr id="17" name="TextBox 16"/>
          <p:cNvSpPr txBox="1"/>
          <p:nvPr/>
        </p:nvSpPr>
        <p:spPr>
          <a:xfrm>
            <a:off x="6510528" y="1892808"/>
            <a:ext cx="4846320" cy="1600200"/>
          </a:xfrm>
          <a:prstGeom prst="rect">
            <a:avLst/>
          </a:prstGeom>
          <a:noFill/>
        </p:spPr>
        <p:txBody>
          <a:bodyPr wrap="square" anchor="t" lIns="0" rIns="0" tIns="0" bIns="0">
            <a:spAutoFit/>
          </a:bodyPr>
          <a:lstStyle/>
          <a:p>
            <a:pPr algn="l">
              <a:lnSpc>
                <a:spcPct val="108000"/>
              </a:lnSpc>
              <a:spcAft>
                <a:spcPts val="700"/>
              </a:spcAft>
            </a:pPr>
            <a:r>
              <a:rPr sz="1200" b="1" i="0">
                <a:solidFill>
                  <a:srgbClr val="EAC548"/>
                </a:solidFill>
                <a:latin typeface="Calibri"/>
              </a:rPr>
              <a:t>▪  </a:t>
            </a:r>
            <a:r>
              <a:rPr sz="1200" b="1" i="0">
                <a:solidFill>
                  <a:srgbClr val="4A4A4A"/>
                </a:solidFill>
                <a:latin typeface="Calibri"/>
              </a:rPr>
              <a:t>Leakage columns removed: </a:t>
            </a:r>
            <a:r>
              <a:rPr sz="1200" b="0" i="0">
                <a:solidFill>
                  <a:srgbClr val="4A4A4A"/>
                </a:solidFill>
                <a:latin typeface="Calibri"/>
              </a:rPr>
              <a:t>follow-up BP, participant ID excluded from model features.</a:t>
            </a:r>
          </a:p>
          <a:p>
            <a:pPr algn="l">
              <a:lnSpc>
                <a:spcPct val="108000"/>
              </a:lnSpc>
              <a:spcAft>
                <a:spcPts val="700"/>
              </a:spcAft>
            </a:pPr>
            <a:r>
              <a:rPr sz="1200" b="1" i="0">
                <a:solidFill>
                  <a:srgbClr val="EAC548"/>
                </a:solidFill>
                <a:latin typeface="Calibri"/>
              </a:rPr>
              <a:t>▪  </a:t>
            </a:r>
            <a:r>
              <a:rPr sz="1200" b="1" i="0">
                <a:solidFill>
                  <a:srgbClr val="4A4A4A"/>
                </a:solidFill>
                <a:latin typeface="Calibri"/>
              </a:rPr>
              <a:t>Preprocessing pipeline: </a:t>
            </a:r>
            <a:r>
              <a:rPr sz="1200" b="0" i="0">
                <a:solidFill>
                  <a:srgbClr val="4A4A4A"/>
                </a:solidFill>
                <a:latin typeface="Calibri"/>
              </a:rPr>
              <a:t>StandardScaler on numerics, one-hot encoding on categoricals.</a:t>
            </a:r>
          </a:p>
          <a:p>
            <a:pPr algn="l">
              <a:lnSpc>
                <a:spcPct val="108000"/>
              </a:lnSpc>
              <a:spcAft>
                <a:spcPts val="700"/>
              </a:spcAft>
            </a:pPr>
            <a:r>
              <a:rPr sz="1200" b="1" i="0">
                <a:solidFill>
                  <a:srgbClr val="EAC548"/>
                </a:solidFill>
                <a:latin typeface="Calibri"/>
              </a:rPr>
              <a:t>▪  </a:t>
            </a:r>
            <a:r>
              <a:rPr sz="1200" b="1" i="0">
                <a:solidFill>
                  <a:srgbClr val="4A4A4A"/>
                </a:solidFill>
                <a:latin typeface="Calibri"/>
              </a:rPr>
              <a:t>Adherence kept as a covariate </a:t>
            </a:r>
            <a:r>
              <a:rPr sz="1200" b="0" i="0">
                <a:solidFill>
                  <a:srgbClr val="4A4A4A"/>
                </a:solidFill>
                <a:latin typeface="Calibri"/>
              </a:rPr>
              <a:t>throughout, never averaged away.</a:t>
            </a:r>
          </a:p>
        </p:txBody>
      </p:sp>
      <p:sp>
        <p:nvSpPr>
          <p:cNvPr id="18" name="Rounded Rectangle 17"/>
          <p:cNvSpPr/>
          <p:nvPr/>
        </p:nvSpPr>
        <p:spPr>
          <a:xfrm>
            <a:off x="502920" y="3931920"/>
            <a:ext cx="5394960" cy="2331720"/>
          </a:xfrm>
          <a:prstGeom prst="roundRect">
            <a:avLst>
              <a:gd name="adj" fmla="val 50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931920"/>
            <a:ext cx="82296" cy="2331720"/>
          </a:xfrm>
          <a:prstGeom prst="rect">
            <a:avLst/>
          </a:prstGeom>
          <a:solidFill>
            <a:srgbClr val="B4C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4096512"/>
            <a:ext cx="4846320" cy="320040"/>
          </a:xfrm>
          <a:prstGeom prst="rect">
            <a:avLst/>
          </a:prstGeom>
          <a:noFill/>
        </p:spPr>
        <p:txBody>
          <a:bodyPr wrap="square" anchor="t" lIns="0" rIns="0" tIns="0" bIns="0">
            <a:spAutoFit/>
          </a:bodyPr>
          <a:lstStyle/>
          <a:p>
            <a:r>
              <a:rPr sz="1550" b="1" i="0">
                <a:solidFill>
                  <a:srgbClr val="733837"/>
                </a:solidFill>
                <a:latin typeface="Calibri"/>
              </a:rPr>
              <a:t>Analytical Methods</a:t>
            </a:r>
          </a:p>
        </p:txBody>
      </p:sp>
      <p:sp>
        <p:nvSpPr>
          <p:cNvPr id="21" name="TextBox 20"/>
          <p:cNvSpPr txBox="1"/>
          <p:nvPr/>
        </p:nvSpPr>
        <p:spPr>
          <a:xfrm>
            <a:off x="795528" y="4498848"/>
            <a:ext cx="4846320" cy="1600200"/>
          </a:xfrm>
          <a:prstGeom prst="rect">
            <a:avLst/>
          </a:prstGeom>
          <a:noFill/>
        </p:spPr>
        <p:txBody>
          <a:bodyPr wrap="square" anchor="t" lIns="0" rIns="0" tIns="0" bIns="0">
            <a:spAutoFit/>
          </a:bodyPr>
          <a:lstStyle/>
          <a:p>
            <a:pPr algn="l">
              <a:lnSpc>
                <a:spcPct val="108000"/>
              </a:lnSpc>
              <a:spcAft>
                <a:spcPts val="700"/>
              </a:spcAft>
            </a:pPr>
            <a:r>
              <a:rPr sz="1200" b="1" i="0">
                <a:solidFill>
                  <a:srgbClr val="B4C94B"/>
                </a:solidFill>
                <a:latin typeface="Calibri"/>
              </a:rPr>
              <a:t>▪  </a:t>
            </a:r>
            <a:r>
              <a:rPr sz="1200" b="1" i="0">
                <a:solidFill>
                  <a:srgbClr val="4A4A4A"/>
                </a:solidFill>
                <a:latin typeface="Calibri"/>
              </a:rPr>
              <a:t>Hypothesis testing: </a:t>
            </a:r>
            <a:r>
              <a:rPr sz="1200" b="0" i="0">
                <a:solidFill>
                  <a:srgbClr val="4A4A4A"/>
                </a:solidFill>
                <a:latin typeface="Calibri"/>
              </a:rPr>
              <a:t>one-way ANOVA + Kruskal-Wallis, then ANCOVA (group + adherence + baseline BP).</a:t>
            </a:r>
          </a:p>
          <a:p>
            <a:pPr algn="l">
              <a:lnSpc>
                <a:spcPct val="108000"/>
              </a:lnSpc>
              <a:spcAft>
                <a:spcPts val="700"/>
              </a:spcAft>
            </a:pPr>
            <a:r>
              <a:rPr sz="1200" b="1" i="0">
                <a:solidFill>
                  <a:srgbClr val="B4C94B"/>
                </a:solidFill>
                <a:latin typeface="Calibri"/>
              </a:rPr>
              <a:t>▪  </a:t>
            </a:r>
            <a:r>
              <a:rPr sz="1200" b="1" i="0">
                <a:solidFill>
                  <a:srgbClr val="4A4A4A"/>
                </a:solidFill>
                <a:latin typeface="Calibri"/>
              </a:rPr>
              <a:t>Predictive modeling: </a:t>
            </a:r>
            <a:r>
              <a:rPr sz="1200" b="0" i="0">
                <a:solidFill>
                  <a:srgbClr val="4A4A4A"/>
                </a:solidFill>
                <a:latin typeface="Calibri"/>
              </a:rPr>
              <a:t>Linear, Ridge, Random Forest, XGBoost under 5-fold CV (R², RMSE, MAE).</a:t>
            </a:r>
          </a:p>
          <a:p>
            <a:pPr algn="l">
              <a:lnSpc>
                <a:spcPct val="108000"/>
              </a:lnSpc>
              <a:spcAft>
                <a:spcPts val="700"/>
              </a:spcAft>
            </a:pPr>
            <a:r>
              <a:rPr sz="1200" b="1" i="0">
                <a:solidFill>
                  <a:srgbClr val="B4C94B"/>
                </a:solidFill>
                <a:latin typeface="Calibri"/>
              </a:rPr>
              <a:t>▪  </a:t>
            </a:r>
            <a:r>
              <a:rPr sz="1200" b="1" i="0">
                <a:solidFill>
                  <a:srgbClr val="4A4A4A"/>
                </a:solidFill>
                <a:latin typeface="Calibri"/>
              </a:rPr>
              <a:t>Functional-form check: </a:t>
            </a:r>
            <a:r>
              <a:rPr sz="1200" b="0" i="0">
                <a:solidFill>
                  <a:srgbClr val="4A4A4A"/>
                </a:solidFill>
                <a:latin typeface="Calibri"/>
              </a:rPr>
              <a:t>linear vs. polynomial fits on adherence vs. outcome, pooled and per arm.</a:t>
            </a:r>
          </a:p>
        </p:txBody>
      </p:sp>
      <p:sp>
        <p:nvSpPr>
          <p:cNvPr id="22" name="Rounded Rectangle 21"/>
          <p:cNvSpPr/>
          <p:nvPr/>
        </p:nvSpPr>
        <p:spPr>
          <a:xfrm>
            <a:off x="6217920" y="3931920"/>
            <a:ext cx="5394960" cy="2331720"/>
          </a:xfrm>
          <a:prstGeom prst="roundRect">
            <a:avLst>
              <a:gd name="adj" fmla="val 50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3931920"/>
            <a:ext cx="82296" cy="233172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4096512"/>
            <a:ext cx="4846320" cy="320040"/>
          </a:xfrm>
          <a:prstGeom prst="rect">
            <a:avLst/>
          </a:prstGeom>
          <a:noFill/>
        </p:spPr>
        <p:txBody>
          <a:bodyPr wrap="square" anchor="t" lIns="0" rIns="0" tIns="0" bIns="0">
            <a:spAutoFit/>
          </a:bodyPr>
          <a:lstStyle/>
          <a:p>
            <a:r>
              <a:rPr sz="1550" b="1" i="0">
                <a:solidFill>
                  <a:srgbClr val="733837"/>
                </a:solidFill>
                <a:latin typeface="Calibri"/>
              </a:rPr>
              <a:t>Why These Methods</a:t>
            </a:r>
          </a:p>
        </p:txBody>
      </p:sp>
      <p:sp>
        <p:nvSpPr>
          <p:cNvPr id="25" name="TextBox 24"/>
          <p:cNvSpPr txBox="1"/>
          <p:nvPr/>
        </p:nvSpPr>
        <p:spPr>
          <a:xfrm>
            <a:off x="6510528" y="4498848"/>
            <a:ext cx="4846320" cy="1600200"/>
          </a:xfrm>
          <a:prstGeom prst="rect">
            <a:avLst/>
          </a:prstGeom>
          <a:noFill/>
        </p:spPr>
        <p:txBody>
          <a:bodyPr wrap="square" anchor="t" lIns="0" rIns="0" tIns="0" bIns="0">
            <a:spAutoFit/>
          </a:bodyPr>
          <a:lstStyle/>
          <a:p>
            <a:pPr algn="l">
              <a:lnSpc>
                <a:spcPct val="108000"/>
              </a:lnSpc>
              <a:spcAft>
                <a:spcPts val="700"/>
              </a:spcAft>
            </a:pPr>
            <a:r>
              <a:rPr sz="1200" b="1" i="0">
                <a:solidFill>
                  <a:srgbClr val="EAC548"/>
                </a:solidFill>
                <a:latin typeface="Calibri"/>
              </a:rPr>
              <a:t>▪  </a:t>
            </a:r>
            <a:r>
              <a:rPr sz="1200" b="1" i="0">
                <a:solidFill>
                  <a:srgbClr val="4A4A4A"/>
                </a:solidFill>
                <a:latin typeface="Calibri"/>
              </a:rPr>
              <a:t>ANCOVA isolates the guidance effect </a:t>
            </a:r>
            <a:r>
              <a:rPr sz="1200" b="0" i="0">
                <a:solidFill>
                  <a:srgbClr val="4A4A4A"/>
                </a:solidFill>
                <a:latin typeface="Calibri"/>
              </a:rPr>
              <a:t>from the adherence confound sitting underneath it.</a:t>
            </a:r>
          </a:p>
          <a:p>
            <a:pPr algn="l">
              <a:lnSpc>
                <a:spcPct val="108000"/>
              </a:lnSpc>
              <a:spcAft>
                <a:spcPts val="700"/>
              </a:spcAft>
            </a:pPr>
            <a:r>
              <a:rPr sz="1200" b="1" i="0">
                <a:solidFill>
                  <a:srgbClr val="EAC548"/>
                </a:solidFill>
                <a:latin typeface="Calibri"/>
              </a:rPr>
              <a:t>▪  </a:t>
            </a:r>
            <a:r>
              <a:rPr sz="1200" b="1" i="0">
                <a:solidFill>
                  <a:srgbClr val="4A4A4A"/>
                </a:solidFill>
                <a:latin typeface="Calibri"/>
              </a:rPr>
              <a:t>Cross-validated model comparison </a:t>
            </a:r>
            <a:r>
              <a:rPr sz="1200" b="0" i="0">
                <a:solidFill>
                  <a:srgbClr val="4A4A4A"/>
                </a:solidFill>
                <a:latin typeface="Calibri"/>
              </a:rPr>
              <a:t>avoids picking a winner off one lucky split, with only 300 rows.</a:t>
            </a:r>
          </a:p>
          <a:p>
            <a:pPr algn="l">
              <a:lnSpc>
                <a:spcPct val="108000"/>
              </a:lnSpc>
              <a:spcAft>
                <a:spcPts val="700"/>
              </a:spcAft>
            </a:pPr>
            <a:r>
              <a:rPr sz="1200" b="1" i="0">
                <a:solidFill>
                  <a:srgbClr val="EAC548"/>
                </a:solidFill>
                <a:latin typeface="Calibri"/>
              </a:rPr>
              <a:t>▪  </a:t>
            </a:r>
            <a:r>
              <a:rPr sz="1200" b="1" i="0">
                <a:solidFill>
                  <a:srgbClr val="4A4A4A"/>
                </a:solidFill>
                <a:latin typeface="Calibri"/>
              </a:rPr>
              <a:t>The functional-form check </a:t>
            </a:r>
            <a:r>
              <a:rPr sz="1200" b="0" i="0">
                <a:solidFill>
                  <a:srgbClr val="4A4A4A"/>
                </a:solidFill>
                <a:latin typeface="Calibri"/>
              </a:rPr>
              <a:t>avoids assuming linearity instead of testing it.</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733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381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fs-logo-color-fa.png"/>
          <p:cNvPicPr>
            <a:picLocks noChangeAspect="1"/>
          </p:cNvPicPr>
          <p:nvPr/>
        </p:nvPicPr>
        <p:blipFill>
          <a:blip r:embed="rId2"/>
          <a:stretch>
            <a:fillRect/>
          </a:stretch>
        </p:blipFill>
        <p:spPr>
          <a:xfrm>
            <a:off x="11109960" y="118872"/>
            <a:ext cx="813816" cy="813816"/>
          </a:xfrm>
          <a:prstGeom prst="rect">
            <a:avLst/>
          </a:prstGeom>
        </p:spPr>
      </p:pic>
      <p:sp>
        <p:nvSpPr>
          <p:cNvPr id="6" name="TextBox 5"/>
          <p:cNvSpPr txBox="1"/>
          <p:nvPr/>
        </p:nvSpPr>
        <p:spPr>
          <a:xfrm>
            <a:off x="502920" y="128016"/>
            <a:ext cx="8686800" cy="292608"/>
          </a:xfrm>
          <a:prstGeom prst="rect">
            <a:avLst/>
          </a:prstGeom>
          <a:noFill/>
        </p:spPr>
        <p:txBody>
          <a:bodyPr wrap="square" anchor="t" lIns="0" rIns="0" tIns="0" bIns="0">
            <a:spAutoFit/>
          </a:bodyPr>
          <a:lstStyle/>
          <a:p>
            <a:r>
              <a:rPr sz="1200" b="1" i="0">
                <a:solidFill>
                  <a:srgbClr val="F2DFA0"/>
                </a:solidFill>
                <a:latin typeface="Calibri"/>
              </a:rPr>
              <a:t>SECTION 03</a:t>
            </a:r>
          </a:p>
        </p:txBody>
      </p:sp>
      <p:sp>
        <p:nvSpPr>
          <p:cNvPr id="7" name="TextBox 6"/>
          <p:cNvSpPr txBox="1"/>
          <p:nvPr/>
        </p:nvSpPr>
        <p:spPr>
          <a:xfrm>
            <a:off x="502920" y="384048"/>
            <a:ext cx="10515600" cy="621792"/>
          </a:xfrm>
          <a:prstGeom prst="rect">
            <a:avLst/>
          </a:prstGeom>
          <a:noFill/>
        </p:spPr>
        <p:txBody>
          <a:bodyPr wrap="square" anchor="t" lIns="0" rIns="0" tIns="0" bIns="0">
            <a:spAutoFit/>
          </a:bodyPr>
          <a:lstStyle/>
          <a:p>
            <a:r>
              <a:rPr sz="2700" b="1" i="0">
                <a:solidFill>
                  <a:srgbClr val="FFFFFF"/>
                </a:solidFill>
                <a:latin typeface="Calibri"/>
              </a:rPr>
              <a:t>Key Findings</a:t>
            </a:r>
          </a:p>
        </p:txBody>
      </p:sp>
      <p:sp>
        <p:nvSpPr>
          <p:cNvPr id="8" name="TextBox 7"/>
          <p:cNvSpPr txBox="1"/>
          <p:nvPr/>
        </p:nvSpPr>
        <p:spPr>
          <a:xfrm>
            <a:off x="10607040" y="6528816"/>
            <a:ext cx="1371600" cy="274320"/>
          </a:xfrm>
          <a:prstGeom prst="rect">
            <a:avLst/>
          </a:prstGeom>
          <a:noFill/>
        </p:spPr>
        <p:txBody>
          <a:bodyPr wrap="square" anchor="t" lIns="0" rIns="0" tIns="0" bIns="0">
            <a:spAutoFit/>
          </a:bodyPr>
          <a:lstStyle/>
          <a:p>
            <a:pPr algn="r"/>
            <a:r>
              <a:rPr sz="1000" b="0" i="0">
                <a:solidFill>
                  <a:srgbClr val="A8A8A8"/>
                </a:solidFill>
                <a:latin typeface="Calibri"/>
              </a:rPr>
              <a:t>4 / 6</a:t>
            </a:r>
          </a:p>
        </p:txBody>
      </p:sp>
      <p:sp>
        <p:nvSpPr>
          <p:cNvPr id="9" name="TextBox 8"/>
          <p:cNvSpPr txBox="1"/>
          <p:nvPr/>
        </p:nvSpPr>
        <p:spPr>
          <a:xfrm>
            <a:off x="502920" y="6528816"/>
            <a:ext cx="5486400" cy="274320"/>
          </a:xfrm>
          <a:prstGeom prst="rect">
            <a:avLst/>
          </a:prstGeom>
          <a:noFill/>
        </p:spPr>
        <p:txBody>
          <a:bodyPr wrap="square" anchor="t" lIns="0" rIns="0" tIns="0" bIns="0">
            <a:spAutoFit/>
          </a:bodyPr>
          <a:lstStyle/>
          <a:p>
            <a:r>
              <a:rPr sz="1000" b="0" i="0">
                <a:solidFill>
                  <a:srgbClr val="A8A8A8"/>
                </a:solidFill>
                <a:latin typeface="Calibri"/>
              </a:rPr>
              <a:t>Farmer's Market Produce &amp; Blood Pressure Study</a:t>
            </a:r>
          </a:p>
        </p:txBody>
      </p:sp>
      <p:pic>
        <p:nvPicPr>
          <p:cNvPr id="10" name="Picture 9" descr="01_box_bp_change_by_group.png"/>
          <p:cNvPicPr>
            <a:picLocks noChangeAspect="1"/>
          </p:cNvPicPr>
          <p:nvPr/>
        </p:nvPicPr>
        <p:blipFill>
          <a:blip r:embed="rId3"/>
          <a:stretch>
            <a:fillRect/>
          </a:stretch>
        </p:blipFill>
        <p:spPr>
          <a:xfrm>
            <a:off x="1359221" y="1481328"/>
            <a:ext cx="5273975" cy="3246120"/>
          </a:xfrm>
          <a:prstGeom prst="rect">
            <a:avLst/>
          </a:prstGeom>
        </p:spPr>
      </p:pic>
      <p:pic>
        <p:nvPicPr>
          <p:cNvPr id="11" name="Picture 10" descr="07_regression_general.png"/>
          <p:cNvPicPr>
            <a:picLocks noChangeAspect="1"/>
          </p:cNvPicPr>
          <p:nvPr/>
        </p:nvPicPr>
        <p:blipFill>
          <a:blip r:embed="rId4"/>
          <a:stretch>
            <a:fillRect/>
          </a:stretch>
        </p:blipFill>
        <p:spPr>
          <a:xfrm>
            <a:off x="6953236" y="1481328"/>
            <a:ext cx="3879238" cy="3246120"/>
          </a:xfrm>
          <a:prstGeom prst="rect">
            <a:avLst/>
          </a:prstGeom>
        </p:spPr>
      </p:pic>
      <p:sp>
        <p:nvSpPr>
          <p:cNvPr id="12" name="TextBox 11"/>
          <p:cNvSpPr txBox="1"/>
          <p:nvPr/>
        </p:nvSpPr>
        <p:spPr>
          <a:xfrm>
            <a:off x="1359221" y="4837176"/>
            <a:ext cx="5273975" cy="1051560"/>
          </a:xfrm>
          <a:prstGeom prst="rect">
            <a:avLst/>
          </a:prstGeom>
          <a:noFill/>
        </p:spPr>
        <p:txBody>
          <a:bodyPr wrap="square" anchor="t" lIns="0" rIns="0" tIns="0" bIns="0">
            <a:spAutoFit/>
          </a:bodyPr>
          <a:lstStyle/>
          <a:p>
            <a:r>
              <a:rPr sz="1350" b="1" i="0">
                <a:solidFill>
                  <a:srgbClr val="733837"/>
                </a:solidFill>
                <a:latin typeface="Calibri"/>
              </a:rPr>
              <a:t>BP Change by Study Arm</a:t>
            </a:r>
          </a:p>
          <a:p>
            <a:pPr>
              <a:lnSpc>
                <a:spcPct val="110000"/>
              </a:lnSpc>
              <a:spcBef>
                <a:spcPts val="300"/>
              </a:spcBef>
            </a:pPr>
            <a:r>
              <a:rPr sz="1150" b="0" i="0">
                <a:solidFill>
                  <a:srgbClr val="4A4A4A"/>
                </a:solidFill>
                <a:latin typeface="Calibri"/>
              </a:rPr>
              <a:t>Dietitian shows the largest drop, Control hovers near zero, and AI Assistant lands in between on both systolic and diastolic change.</a:t>
            </a:r>
          </a:p>
        </p:txBody>
      </p:sp>
      <p:sp>
        <p:nvSpPr>
          <p:cNvPr id="13" name="TextBox 12"/>
          <p:cNvSpPr txBox="1"/>
          <p:nvPr/>
        </p:nvSpPr>
        <p:spPr>
          <a:xfrm>
            <a:off x="6953236" y="4837176"/>
            <a:ext cx="3879237" cy="1051560"/>
          </a:xfrm>
          <a:prstGeom prst="rect">
            <a:avLst/>
          </a:prstGeom>
          <a:noFill/>
        </p:spPr>
        <p:txBody>
          <a:bodyPr wrap="square" anchor="t" lIns="0" rIns="0" tIns="0" bIns="0">
            <a:spAutoFit/>
          </a:bodyPr>
          <a:lstStyle/>
          <a:p>
            <a:r>
              <a:rPr sz="1350" b="1" i="0">
                <a:solidFill>
                  <a:srgbClr val="733837"/>
                </a:solidFill>
                <a:latin typeface="Calibri"/>
              </a:rPr>
              <a:t>Adherence Drives the Outcome</a:t>
            </a:r>
          </a:p>
          <a:p>
            <a:pPr>
              <a:lnSpc>
                <a:spcPct val="110000"/>
              </a:lnSpc>
              <a:spcBef>
                <a:spcPts val="300"/>
              </a:spcBef>
            </a:pPr>
            <a:r>
              <a:rPr sz="1150" b="0" i="0">
                <a:solidFill>
                  <a:srgbClr val="4A4A4A"/>
                </a:solidFill>
                <a:latin typeface="Calibri"/>
              </a:rPr>
              <a:t>A confirmed linear fit (R² = 0.45, p &lt; 0.001): every point of adherence tracks a real, measurable drop in systolic BP.</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733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381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fs-logo-color-fa.png"/>
          <p:cNvPicPr>
            <a:picLocks noChangeAspect="1"/>
          </p:cNvPicPr>
          <p:nvPr/>
        </p:nvPicPr>
        <p:blipFill>
          <a:blip r:embed="rId2"/>
          <a:stretch>
            <a:fillRect/>
          </a:stretch>
        </p:blipFill>
        <p:spPr>
          <a:xfrm>
            <a:off x="11109960" y="118872"/>
            <a:ext cx="813816" cy="813816"/>
          </a:xfrm>
          <a:prstGeom prst="rect">
            <a:avLst/>
          </a:prstGeom>
        </p:spPr>
      </p:pic>
      <p:sp>
        <p:nvSpPr>
          <p:cNvPr id="6" name="TextBox 5"/>
          <p:cNvSpPr txBox="1"/>
          <p:nvPr/>
        </p:nvSpPr>
        <p:spPr>
          <a:xfrm>
            <a:off x="502920" y="128016"/>
            <a:ext cx="8686800" cy="292608"/>
          </a:xfrm>
          <a:prstGeom prst="rect">
            <a:avLst/>
          </a:prstGeom>
          <a:noFill/>
        </p:spPr>
        <p:txBody>
          <a:bodyPr wrap="square" anchor="t" lIns="0" rIns="0" tIns="0" bIns="0">
            <a:spAutoFit/>
          </a:bodyPr>
          <a:lstStyle/>
          <a:p>
            <a:r>
              <a:rPr sz="1200" b="1" i="0">
                <a:solidFill>
                  <a:srgbClr val="F2DFA0"/>
                </a:solidFill>
                <a:latin typeface="Calibri"/>
              </a:rPr>
              <a:t>SECTION 04</a:t>
            </a:r>
          </a:p>
        </p:txBody>
      </p:sp>
      <p:sp>
        <p:nvSpPr>
          <p:cNvPr id="7" name="TextBox 6"/>
          <p:cNvSpPr txBox="1"/>
          <p:nvPr/>
        </p:nvSpPr>
        <p:spPr>
          <a:xfrm>
            <a:off x="502920" y="384048"/>
            <a:ext cx="10515600" cy="621792"/>
          </a:xfrm>
          <a:prstGeom prst="rect">
            <a:avLst/>
          </a:prstGeom>
          <a:noFill/>
        </p:spPr>
        <p:txBody>
          <a:bodyPr wrap="square" anchor="t" lIns="0" rIns="0" tIns="0" bIns="0">
            <a:spAutoFit/>
          </a:bodyPr>
          <a:lstStyle/>
          <a:p>
            <a:r>
              <a:rPr sz="2700" b="1" i="0">
                <a:solidFill>
                  <a:srgbClr val="FFFFFF"/>
                </a:solidFill>
                <a:latin typeface="Calibri"/>
              </a:rPr>
              <a:t>Results &amp; Discussion</a:t>
            </a:r>
          </a:p>
        </p:txBody>
      </p:sp>
      <p:sp>
        <p:nvSpPr>
          <p:cNvPr id="8" name="TextBox 7"/>
          <p:cNvSpPr txBox="1"/>
          <p:nvPr/>
        </p:nvSpPr>
        <p:spPr>
          <a:xfrm>
            <a:off x="10607040" y="6528816"/>
            <a:ext cx="1371600" cy="274320"/>
          </a:xfrm>
          <a:prstGeom prst="rect">
            <a:avLst/>
          </a:prstGeom>
          <a:noFill/>
        </p:spPr>
        <p:txBody>
          <a:bodyPr wrap="square" anchor="t" lIns="0" rIns="0" tIns="0" bIns="0">
            <a:spAutoFit/>
          </a:bodyPr>
          <a:lstStyle/>
          <a:p>
            <a:pPr algn="r"/>
            <a:r>
              <a:rPr sz="1000" b="0" i="0">
                <a:solidFill>
                  <a:srgbClr val="A8A8A8"/>
                </a:solidFill>
                <a:latin typeface="Calibri"/>
              </a:rPr>
              <a:t>5 / 6</a:t>
            </a:r>
          </a:p>
        </p:txBody>
      </p:sp>
      <p:sp>
        <p:nvSpPr>
          <p:cNvPr id="9" name="TextBox 8"/>
          <p:cNvSpPr txBox="1"/>
          <p:nvPr/>
        </p:nvSpPr>
        <p:spPr>
          <a:xfrm>
            <a:off x="502920" y="6528816"/>
            <a:ext cx="5486400" cy="274320"/>
          </a:xfrm>
          <a:prstGeom prst="rect">
            <a:avLst/>
          </a:prstGeom>
          <a:noFill/>
        </p:spPr>
        <p:txBody>
          <a:bodyPr wrap="square" anchor="t" lIns="0" rIns="0" tIns="0" bIns="0">
            <a:spAutoFit/>
          </a:bodyPr>
          <a:lstStyle/>
          <a:p>
            <a:r>
              <a:rPr sz="1000" b="0" i="0">
                <a:solidFill>
                  <a:srgbClr val="A8A8A8"/>
                </a:solidFill>
                <a:latin typeface="Calibri"/>
              </a:rPr>
              <a:t>Farmer's Market Produce &amp; Blood Pressure Study</a:t>
            </a:r>
          </a:p>
        </p:txBody>
      </p:sp>
      <p:sp>
        <p:nvSpPr>
          <p:cNvPr id="10" name="Rounded Rectangle 9"/>
          <p:cNvSpPr/>
          <p:nvPr/>
        </p:nvSpPr>
        <p:spPr>
          <a:xfrm>
            <a:off x="502920" y="1371600"/>
            <a:ext cx="5394960" cy="4937760"/>
          </a:xfrm>
          <a:prstGeom prst="roundRect">
            <a:avLst>
              <a:gd name="adj" fmla="val 35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27632"/>
            <a:ext cx="4754880" cy="365760"/>
          </a:xfrm>
          <a:prstGeom prst="rect">
            <a:avLst/>
          </a:prstGeom>
          <a:noFill/>
        </p:spPr>
        <p:txBody>
          <a:bodyPr wrap="square" anchor="t" lIns="0" rIns="0" tIns="0" bIns="0">
            <a:spAutoFit/>
          </a:bodyPr>
          <a:lstStyle/>
          <a:p>
            <a:r>
              <a:rPr sz="1650" b="1" i="0">
                <a:solidFill>
                  <a:srgbClr val="733837"/>
                </a:solidFill>
                <a:latin typeface="Calibri"/>
              </a:rPr>
              <a:t>Were the Hypotheses Supported?</a:t>
            </a:r>
          </a:p>
        </p:txBody>
      </p:sp>
      <p:sp>
        <p:nvSpPr>
          <p:cNvPr id="12" name="Rectangle 11"/>
          <p:cNvSpPr/>
          <p:nvPr/>
        </p:nvSpPr>
        <p:spPr>
          <a:xfrm>
            <a:off x="822960" y="2029968"/>
            <a:ext cx="914400" cy="31750"/>
          </a:xfrm>
          <a:prstGeom prst="rect">
            <a:avLst/>
          </a:prstGeom>
          <a:solidFill>
            <a:srgbClr val="B4C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40280"/>
            <a:ext cx="4754880" cy="3840480"/>
          </a:xfrm>
          <a:prstGeom prst="rect">
            <a:avLst/>
          </a:prstGeom>
          <a:noFill/>
        </p:spPr>
        <p:txBody>
          <a:bodyPr wrap="square" anchor="t" lIns="0" rIns="0" tIns="0" bIns="0">
            <a:spAutoFit/>
          </a:bodyPr>
          <a:lstStyle/>
          <a:p>
            <a:pPr algn="l">
              <a:lnSpc>
                <a:spcPct val="112000"/>
              </a:lnSpc>
              <a:spcAft>
                <a:spcPts val="1100"/>
              </a:spcAft>
            </a:pPr>
            <a:r>
              <a:rPr sz="1300" b="1" i="0">
                <a:solidFill>
                  <a:srgbClr val="B4C94B"/>
                </a:solidFill>
                <a:latin typeface="Calibri"/>
              </a:rPr>
              <a:t>▪  </a:t>
            </a:r>
            <a:r>
              <a:rPr sz="1300" b="1" i="0">
                <a:solidFill>
                  <a:srgbClr val="4A4A4A"/>
                </a:solidFill>
                <a:latin typeface="Calibri"/>
              </a:rPr>
              <a:t>H1 &amp; H2 supported: </a:t>
            </a:r>
            <a:r>
              <a:rPr sz="1300" b="0" i="0">
                <a:solidFill>
                  <a:srgbClr val="4A4A4A"/>
                </a:solidFill>
                <a:latin typeface="Calibri"/>
              </a:rPr>
              <a:t>guidance produces a real, significant effect that survives ANCOVA adjustment for adherence.</a:t>
            </a:r>
          </a:p>
          <a:p>
            <a:pPr algn="l">
              <a:lnSpc>
                <a:spcPct val="112000"/>
              </a:lnSpc>
              <a:spcAft>
                <a:spcPts val="1100"/>
              </a:spcAft>
            </a:pPr>
            <a:r>
              <a:rPr sz="1300" b="1" i="0">
                <a:solidFill>
                  <a:srgbClr val="B4C94B"/>
                </a:solidFill>
                <a:latin typeface="Calibri"/>
              </a:rPr>
              <a:t>▪  </a:t>
            </a:r>
            <a:r>
              <a:rPr sz="1300" b="1" i="0">
                <a:solidFill>
                  <a:srgbClr val="4A4A4A"/>
                </a:solidFill>
                <a:latin typeface="Calibri"/>
              </a:rPr>
              <a:t>H3 supported: </a:t>
            </a:r>
            <a:r>
              <a:rPr sz="1300" b="0" i="0">
                <a:solidFill>
                  <a:srgbClr val="4A4A4A"/>
                </a:solidFill>
                <a:latin typeface="Calibri"/>
              </a:rPr>
              <a:t>adherence is the top predictor in every model and every analysis lens, by a wide margin.</a:t>
            </a:r>
          </a:p>
          <a:p>
            <a:pPr algn="l">
              <a:lnSpc>
                <a:spcPct val="112000"/>
              </a:lnSpc>
              <a:spcAft>
                <a:spcPts val="1100"/>
              </a:spcAft>
            </a:pPr>
            <a:r>
              <a:rPr sz="1300" b="1" i="0">
                <a:solidFill>
                  <a:srgbClr val="B4C94B"/>
                </a:solidFill>
                <a:latin typeface="Calibri"/>
              </a:rPr>
              <a:t>▪  </a:t>
            </a:r>
            <a:r>
              <a:rPr sz="1300" b="1" i="0">
                <a:solidFill>
                  <a:srgbClr val="4A4A4A"/>
                </a:solidFill>
                <a:latin typeface="Calibri"/>
              </a:rPr>
              <a:t>H4 partially supported: </a:t>
            </a:r>
            <a:r>
              <a:rPr sz="1300" b="0" i="0">
                <a:solidFill>
                  <a:srgbClr val="4A4A4A"/>
                </a:solidFill>
                <a:latin typeface="Calibri"/>
              </a:rPr>
              <a:t>Random Forest wins, but only modestly, and the edge comes from variable interactions, not curvature in the adherence relationship itself.</a:t>
            </a:r>
          </a:p>
          <a:p>
            <a:pPr algn="l">
              <a:lnSpc>
                <a:spcPct val="112000"/>
              </a:lnSpc>
              <a:spcAft>
                <a:spcPts val="1100"/>
              </a:spcAft>
            </a:pPr>
            <a:r>
              <a:rPr sz="1300" b="1" i="0">
                <a:solidFill>
                  <a:srgbClr val="B4C94B"/>
                </a:solidFill>
                <a:latin typeface="Calibri"/>
              </a:rPr>
              <a:t>▪  </a:t>
            </a:r>
            <a:r>
              <a:rPr sz="1300" b="1" i="0">
                <a:solidFill>
                  <a:srgbClr val="4A4A4A"/>
                </a:solidFill>
                <a:latin typeface="Calibri"/>
              </a:rPr>
              <a:t>AI Assistant captures a real but partial share </a:t>
            </a:r>
            <a:r>
              <a:rPr sz="1300" b="0" i="0">
                <a:solidFill>
                  <a:srgbClr val="4A4A4A"/>
                </a:solidFill>
                <a:latin typeface="Calibri"/>
              </a:rPr>
              <a:t>of the Dietitian benefit, suggesting non-human guidance can meaningfully move the needle.</a:t>
            </a:r>
          </a:p>
        </p:txBody>
      </p:sp>
      <p:sp>
        <p:nvSpPr>
          <p:cNvPr id="14" name="Rounded Rectangle 13"/>
          <p:cNvSpPr/>
          <p:nvPr/>
        </p:nvSpPr>
        <p:spPr>
          <a:xfrm>
            <a:off x="6263640" y="1371600"/>
            <a:ext cx="5394960" cy="4937760"/>
          </a:xfrm>
          <a:prstGeom prst="roundRect">
            <a:avLst>
              <a:gd name="adj" fmla="val 3500"/>
            </a:avLst>
          </a:prstGeom>
          <a:solidFill>
            <a:srgbClr val="FFFFFF"/>
          </a:solidFill>
          <a:ln w="9525">
            <a:solidFill>
              <a:srgbClr val="E7E1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27632"/>
            <a:ext cx="4754880" cy="365760"/>
          </a:xfrm>
          <a:prstGeom prst="rect">
            <a:avLst/>
          </a:prstGeom>
          <a:noFill/>
        </p:spPr>
        <p:txBody>
          <a:bodyPr wrap="square" anchor="t" lIns="0" rIns="0" tIns="0" bIns="0">
            <a:spAutoFit/>
          </a:bodyPr>
          <a:lstStyle/>
          <a:p>
            <a:r>
              <a:rPr sz="1650" b="1" i="0">
                <a:solidFill>
                  <a:srgbClr val="733837"/>
                </a:solidFill>
                <a:latin typeface="Calibri"/>
              </a:rPr>
              <a:t>Notable Patterns &amp; Limitations</a:t>
            </a:r>
          </a:p>
        </p:txBody>
      </p:sp>
      <p:sp>
        <p:nvSpPr>
          <p:cNvPr id="16" name="Rectangle 15"/>
          <p:cNvSpPr/>
          <p:nvPr/>
        </p:nvSpPr>
        <p:spPr>
          <a:xfrm>
            <a:off x="6583680" y="2029968"/>
            <a:ext cx="914400" cy="3175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2240280"/>
            <a:ext cx="4754880" cy="3840480"/>
          </a:xfrm>
          <a:prstGeom prst="rect">
            <a:avLst/>
          </a:prstGeom>
          <a:noFill/>
        </p:spPr>
        <p:txBody>
          <a:bodyPr wrap="square" anchor="t" lIns="0" rIns="0" tIns="0" bIns="0">
            <a:spAutoFit/>
          </a:bodyPr>
          <a:lstStyle/>
          <a:p>
            <a:pPr algn="l">
              <a:lnSpc>
                <a:spcPct val="112000"/>
              </a:lnSpc>
              <a:spcAft>
                <a:spcPts val="1100"/>
              </a:spcAft>
            </a:pPr>
            <a:r>
              <a:rPr sz="1300" b="1" i="0">
                <a:solidFill>
                  <a:srgbClr val="EAC548"/>
                </a:solidFill>
                <a:latin typeface="Calibri"/>
              </a:rPr>
              <a:t>▪  </a:t>
            </a:r>
            <a:r>
              <a:rPr sz="1300" b="1" i="0">
                <a:solidFill>
                  <a:srgbClr val="4A4A4A"/>
                </a:solidFill>
                <a:latin typeface="Calibri"/>
              </a:rPr>
              <a:t>Unexpected: </a:t>
            </a:r>
            <a:r>
              <a:rPr sz="1300" b="0" i="0">
                <a:solidFill>
                  <a:srgbClr val="4A4A4A"/>
                </a:solidFill>
                <a:latin typeface="Calibri"/>
              </a:rPr>
              <a:t>individual produce items (kale, beets, etc.) show only weak, noisy correlations, and no single vegetable stands out.</a:t>
            </a:r>
          </a:p>
          <a:p>
            <a:pPr algn="l">
              <a:lnSpc>
                <a:spcPct val="112000"/>
              </a:lnSpc>
              <a:spcAft>
                <a:spcPts val="1100"/>
              </a:spcAft>
            </a:pPr>
            <a:r>
              <a:rPr sz="1300" b="1" i="0">
                <a:solidFill>
                  <a:srgbClr val="EAC548"/>
                </a:solidFill>
                <a:latin typeface="Calibri"/>
              </a:rPr>
              <a:t>▪  </a:t>
            </a:r>
            <a:r>
              <a:rPr sz="1300" b="1" i="0">
                <a:solidFill>
                  <a:srgbClr val="4A4A4A"/>
                </a:solidFill>
                <a:latin typeface="Calibri"/>
              </a:rPr>
              <a:t>Diastolic modeling is weaker </a:t>
            </a:r>
            <a:r>
              <a:rPr sz="1300" b="0" i="0">
                <a:solidFill>
                  <a:srgbClr val="4A4A4A"/>
                </a:solidFill>
                <a:latin typeface="Calibri"/>
              </a:rPr>
              <a:t>than systolic (held-out R² = 0.24 vs. 0.45); treat diastolic predictions with more caution.</a:t>
            </a:r>
          </a:p>
          <a:p>
            <a:pPr algn="l">
              <a:lnSpc>
                <a:spcPct val="112000"/>
              </a:lnSpc>
              <a:spcAft>
                <a:spcPts val="1100"/>
              </a:spcAft>
            </a:pPr>
            <a:r>
              <a:rPr sz="1300" b="1" i="0">
                <a:solidFill>
                  <a:srgbClr val="EAC548"/>
                </a:solidFill>
                <a:latin typeface="Calibri"/>
              </a:rPr>
              <a:t>▪  </a:t>
            </a:r>
            <a:r>
              <a:rPr sz="1300" b="1" i="0">
                <a:solidFill>
                  <a:srgbClr val="4A4A4A"/>
                </a:solidFill>
                <a:latin typeface="Calibri"/>
              </a:rPr>
              <a:t>Outcome data is synthetic, </a:t>
            </a:r>
            <a:r>
              <a:rPr sz="1300" b="0" i="0">
                <a:solidFill>
                  <a:srgbClr val="4A4A4A"/>
                </a:solidFill>
                <a:latin typeface="Calibri"/>
              </a:rPr>
              <a:t>layered on a real baseline cohort, so this is a methodology demonstration, not a clinical result.</a:t>
            </a:r>
          </a:p>
          <a:p>
            <a:pPr algn="l">
              <a:lnSpc>
                <a:spcPct val="112000"/>
              </a:lnSpc>
              <a:spcAft>
                <a:spcPts val="1100"/>
              </a:spcAft>
            </a:pPr>
            <a:r>
              <a:rPr sz="1300" b="1" i="0">
                <a:solidFill>
                  <a:srgbClr val="EAC548"/>
                </a:solidFill>
                <a:latin typeface="Calibri"/>
              </a:rPr>
              <a:t>▪  </a:t>
            </a:r>
            <a:r>
              <a:rPr sz="1300" b="1" i="0">
                <a:solidFill>
                  <a:srgbClr val="4A4A4A"/>
                </a:solidFill>
                <a:latin typeface="Calibri"/>
              </a:rPr>
              <a:t>Causal subgroup analysis </a:t>
            </a:r>
            <a:r>
              <a:rPr sz="1300" b="0" i="0">
                <a:solidFill>
                  <a:srgbClr val="4A4A4A"/>
                </a:solidFill>
                <a:latin typeface="Calibri"/>
              </a:rPr>
              <a:t>(CausalForestDML) was planned but not run in this environment; current importances are predictive, not causal.</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733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fs-logo-color-fa.png"/>
          <p:cNvPicPr>
            <a:picLocks noChangeAspect="1"/>
          </p:cNvPicPr>
          <p:nvPr/>
        </p:nvPicPr>
        <p:blipFill>
          <a:blip r:embed="rId2"/>
          <a:stretch>
            <a:fillRect/>
          </a:stretch>
        </p:blipFill>
        <p:spPr>
          <a:xfrm>
            <a:off x="10835640" y="457200"/>
            <a:ext cx="1051560" cy="1051560"/>
          </a:xfrm>
          <a:prstGeom prst="rect">
            <a:avLst/>
          </a:prstGeom>
        </p:spPr>
      </p:pic>
      <p:sp>
        <p:nvSpPr>
          <p:cNvPr id="5" name="TextBox 4"/>
          <p:cNvSpPr txBox="1"/>
          <p:nvPr/>
        </p:nvSpPr>
        <p:spPr>
          <a:xfrm>
            <a:off x="777240" y="502920"/>
            <a:ext cx="9601200" cy="320040"/>
          </a:xfrm>
          <a:prstGeom prst="rect">
            <a:avLst/>
          </a:prstGeom>
          <a:noFill/>
        </p:spPr>
        <p:txBody>
          <a:bodyPr wrap="square" anchor="t" lIns="0" rIns="0" tIns="0" bIns="0">
            <a:spAutoFit/>
          </a:bodyPr>
          <a:lstStyle/>
          <a:p>
            <a:r>
              <a:rPr sz="1300" b="1" i="0">
                <a:solidFill>
                  <a:srgbClr val="F2DFA0"/>
                </a:solidFill>
                <a:latin typeface="Calibri"/>
              </a:rPr>
              <a:t>SECTION 05</a:t>
            </a:r>
          </a:p>
        </p:txBody>
      </p:sp>
      <p:sp>
        <p:nvSpPr>
          <p:cNvPr id="6" name="TextBox 5"/>
          <p:cNvSpPr txBox="1"/>
          <p:nvPr/>
        </p:nvSpPr>
        <p:spPr>
          <a:xfrm>
            <a:off x="731520" y="777240"/>
            <a:ext cx="10607040" cy="640080"/>
          </a:xfrm>
          <a:prstGeom prst="rect">
            <a:avLst/>
          </a:prstGeom>
          <a:noFill/>
        </p:spPr>
        <p:txBody>
          <a:bodyPr wrap="square" anchor="t" lIns="0" rIns="0" tIns="0" bIns="0">
            <a:spAutoFit/>
          </a:bodyPr>
          <a:lstStyle/>
          <a:p>
            <a:r>
              <a:rPr sz="3000" b="1" i="0">
                <a:solidFill>
                  <a:srgbClr val="FFFFFF"/>
                </a:solidFill>
                <a:latin typeface="Calibri"/>
              </a:rPr>
              <a:t>Conclusion &amp; Future Work</a:t>
            </a:r>
          </a:p>
        </p:txBody>
      </p:sp>
      <p:sp>
        <p:nvSpPr>
          <p:cNvPr id="7" name="Rectangle 6"/>
          <p:cNvSpPr/>
          <p:nvPr/>
        </p:nvSpPr>
        <p:spPr>
          <a:xfrm>
            <a:off x="777240" y="1417320"/>
            <a:ext cx="2194560" cy="38100"/>
          </a:xfrm>
          <a:prstGeom prst="rect">
            <a:avLst/>
          </a:prstGeom>
          <a:solidFill>
            <a:srgbClr val="EAC5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5349240" cy="365760"/>
          </a:xfrm>
          <a:prstGeom prst="rect">
            <a:avLst/>
          </a:prstGeom>
          <a:noFill/>
        </p:spPr>
        <p:txBody>
          <a:bodyPr wrap="square" anchor="t" lIns="0" rIns="0" tIns="0" bIns="0">
            <a:spAutoFit/>
          </a:bodyPr>
          <a:lstStyle/>
          <a:p>
            <a:r>
              <a:rPr sz="1600" b="1" i="0">
                <a:solidFill>
                  <a:srgbClr val="F2DFA0"/>
                </a:solidFill>
                <a:latin typeface="Calibri"/>
              </a:rPr>
              <a:t>Main Takeaways</a:t>
            </a:r>
          </a:p>
        </p:txBody>
      </p:sp>
      <p:sp>
        <p:nvSpPr>
          <p:cNvPr id="9" name="TextBox 8"/>
          <p:cNvSpPr txBox="1"/>
          <p:nvPr/>
        </p:nvSpPr>
        <p:spPr>
          <a:xfrm>
            <a:off x="777240" y="2194560"/>
            <a:ext cx="5349240" cy="2194560"/>
          </a:xfrm>
          <a:prstGeom prst="rect">
            <a:avLst/>
          </a:prstGeom>
          <a:noFill/>
        </p:spPr>
        <p:txBody>
          <a:bodyPr wrap="square" anchor="t" lIns="0" rIns="0" tIns="0" bIns="0">
            <a:spAutoFit/>
          </a:bodyPr>
          <a:lstStyle/>
          <a:p>
            <a:pPr algn="l">
              <a:lnSpc>
                <a:spcPct val="108000"/>
              </a:lnSpc>
              <a:spcAft>
                <a:spcPts val="900"/>
              </a:spcAft>
            </a:pPr>
            <a:r>
              <a:rPr sz="1300" b="1" i="0">
                <a:solidFill>
                  <a:srgbClr val="EAC548"/>
                </a:solidFill>
                <a:latin typeface="Calibri"/>
              </a:rPr>
              <a:t>▪  </a:t>
            </a:r>
            <a:r>
              <a:rPr sz="1300" b="1" i="0">
                <a:solidFill>
                  <a:srgbClr val="F3ECDD"/>
                </a:solidFill>
                <a:latin typeface="Calibri"/>
              </a:rPr>
              <a:t>Guidance works: </a:t>
            </a:r>
            <a:r>
              <a:rPr sz="1300" b="0" i="0">
                <a:solidFill>
                  <a:srgbClr val="F3ECDD"/>
                </a:solidFill>
                <a:latin typeface="Calibri"/>
              </a:rPr>
              <a:t>dietitian or AI support drives significantly larger BP reductions than produce alone, even after controlling for adherence.</a:t>
            </a:r>
          </a:p>
          <a:p>
            <a:pPr algn="l">
              <a:lnSpc>
                <a:spcPct val="108000"/>
              </a:lnSpc>
              <a:spcAft>
                <a:spcPts val="900"/>
              </a:spcAft>
            </a:pPr>
            <a:r>
              <a:rPr sz="1300" b="1" i="0">
                <a:solidFill>
                  <a:srgbClr val="EAC548"/>
                </a:solidFill>
                <a:latin typeface="Calibri"/>
              </a:rPr>
              <a:t>▪  </a:t>
            </a:r>
            <a:r>
              <a:rPr sz="1300" b="1" i="0">
                <a:solidFill>
                  <a:srgbClr val="F3ECDD"/>
                </a:solidFill>
                <a:latin typeface="Calibri"/>
              </a:rPr>
              <a:t>Adherence is the lever: </a:t>
            </a:r>
            <a:r>
              <a:rPr sz="1300" b="0" i="0">
                <a:solidFill>
                  <a:srgbClr val="F3ECDD"/>
                </a:solidFill>
                <a:latin typeface="Calibri"/>
              </a:rPr>
              <a:t>it matters more than any individual produce item, regardless of arm.</a:t>
            </a:r>
          </a:p>
          <a:p>
            <a:pPr algn="l">
              <a:lnSpc>
                <a:spcPct val="108000"/>
              </a:lnSpc>
              <a:spcAft>
                <a:spcPts val="900"/>
              </a:spcAft>
            </a:pPr>
            <a:r>
              <a:rPr sz="1300" b="1" i="0">
                <a:solidFill>
                  <a:srgbClr val="EAC548"/>
                </a:solidFill>
                <a:latin typeface="Calibri"/>
              </a:rPr>
              <a:t>▪  </a:t>
            </a:r>
            <a:r>
              <a:rPr sz="1300" b="1" i="0">
                <a:solidFill>
                  <a:srgbClr val="F3ECDD"/>
                </a:solidFill>
                <a:latin typeface="Calibri"/>
              </a:rPr>
              <a:t>AI guidance is a viable, scalable complement </a:t>
            </a:r>
            <a:r>
              <a:rPr sz="1300" b="0" i="0">
                <a:solidFill>
                  <a:srgbClr val="F3ECDD"/>
                </a:solidFill>
                <a:latin typeface="Calibri"/>
              </a:rPr>
              <a:t>to costly one-on-one dietitian access, not a full replacement, but a meaningful partial substitute.</a:t>
            </a:r>
          </a:p>
        </p:txBody>
      </p:sp>
      <p:sp>
        <p:nvSpPr>
          <p:cNvPr id="10" name="TextBox 9"/>
          <p:cNvSpPr txBox="1"/>
          <p:nvPr/>
        </p:nvSpPr>
        <p:spPr>
          <a:xfrm>
            <a:off x="777240" y="4343400"/>
            <a:ext cx="5349240" cy="365760"/>
          </a:xfrm>
          <a:prstGeom prst="rect">
            <a:avLst/>
          </a:prstGeom>
          <a:noFill/>
        </p:spPr>
        <p:txBody>
          <a:bodyPr wrap="square" anchor="t" lIns="0" rIns="0" tIns="0" bIns="0">
            <a:spAutoFit/>
          </a:bodyPr>
          <a:lstStyle/>
          <a:p>
            <a:r>
              <a:rPr sz="1600" b="1" i="0">
                <a:solidFill>
                  <a:srgbClr val="F2DFA0"/>
                </a:solidFill>
                <a:latin typeface="Calibri"/>
              </a:rPr>
              <a:t>Practical Impact</a:t>
            </a:r>
          </a:p>
        </p:txBody>
      </p:sp>
      <p:sp>
        <p:nvSpPr>
          <p:cNvPr id="11" name="TextBox 10"/>
          <p:cNvSpPr txBox="1"/>
          <p:nvPr/>
        </p:nvSpPr>
        <p:spPr>
          <a:xfrm>
            <a:off x="777240" y="4754880"/>
            <a:ext cx="5349240" cy="1188720"/>
          </a:xfrm>
          <a:prstGeom prst="rect">
            <a:avLst/>
          </a:prstGeom>
          <a:noFill/>
        </p:spPr>
        <p:txBody>
          <a:bodyPr wrap="square" anchor="t" lIns="0" rIns="0" tIns="0" bIns="0">
            <a:spAutoFit/>
          </a:bodyPr>
          <a:lstStyle/>
          <a:p>
            <a:pPr algn="l">
              <a:lnSpc>
                <a:spcPct val="112000"/>
              </a:lnSpc>
              <a:spcAft>
                <a:spcPts val="1000"/>
              </a:spcAft>
            </a:pPr>
            <a:r>
              <a:rPr sz="1350" b="1" i="0">
                <a:solidFill>
                  <a:srgbClr val="EAC548"/>
                </a:solidFill>
                <a:latin typeface="Calibri"/>
              </a:rPr>
              <a:t>▪  </a:t>
            </a:r>
            <a:r>
              <a:rPr sz="1350" b="0" i="0">
                <a:solidFill>
                  <a:srgbClr val="F3ECDD"/>
                </a:solidFill>
                <a:latin typeface="Calibri"/>
              </a:rPr>
              <a:t>Produce-prescription programs should pair boxes with structured guidance, human or automated, rather than provision alone.</a:t>
            </a:r>
          </a:p>
          <a:p>
            <a:pPr algn="l">
              <a:lnSpc>
                <a:spcPct val="112000"/>
              </a:lnSpc>
              <a:spcAft>
                <a:spcPts val="1000"/>
              </a:spcAft>
            </a:pPr>
            <a:r>
              <a:rPr sz="1350" b="1" i="0">
                <a:solidFill>
                  <a:srgbClr val="EAC548"/>
                </a:solidFill>
                <a:latin typeface="Calibri"/>
              </a:rPr>
              <a:t>▪  </a:t>
            </a:r>
            <a:r>
              <a:rPr sz="1350" b="0" i="0">
                <a:solidFill>
                  <a:srgbClr val="F3ECDD"/>
                </a:solidFill>
                <a:latin typeface="Calibri"/>
              </a:rPr>
              <a:t>Even a lightweight AI nutrition assistant appears to meaningfully improve outcomes over no guidance at all.</a:t>
            </a:r>
          </a:p>
        </p:txBody>
      </p:sp>
      <p:sp>
        <p:nvSpPr>
          <p:cNvPr id="12" name="TextBox 11"/>
          <p:cNvSpPr txBox="1"/>
          <p:nvPr/>
        </p:nvSpPr>
        <p:spPr>
          <a:xfrm>
            <a:off x="6309360" y="1737360"/>
            <a:ext cx="5349240" cy="365760"/>
          </a:xfrm>
          <a:prstGeom prst="rect">
            <a:avLst/>
          </a:prstGeom>
          <a:noFill/>
        </p:spPr>
        <p:txBody>
          <a:bodyPr wrap="square" anchor="t" lIns="0" rIns="0" tIns="0" bIns="0">
            <a:spAutoFit/>
          </a:bodyPr>
          <a:lstStyle/>
          <a:p>
            <a:r>
              <a:rPr sz="1600" b="1" i="0">
                <a:solidFill>
                  <a:srgbClr val="F2DFA0"/>
                </a:solidFill>
                <a:latin typeface="Calibri"/>
              </a:rPr>
              <a:t>Recommendations &amp; Future Work</a:t>
            </a:r>
          </a:p>
        </p:txBody>
      </p:sp>
      <p:sp>
        <p:nvSpPr>
          <p:cNvPr id="13" name="TextBox 12"/>
          <p:cNvSpPr txBox="1"/>
          <p:nvPr/>
        </p:nvSpPr>
        <p:spPr>
          <a:xfrm>
            <a:off x="6309360" y="2194560"/>
            <a:ext cx="5349240" cy="3200400"/>
          </a:xfrm>
          <a:prstGeom prst="rect">
            <a:avLst/>
          </a:prstGeom>
          <a:noFill/>
        </p:spPr>
        <p:txBody>
          <a:bodyPr wrap="square" anchor="t" lIns="0" rIns="0" tIns="0" bIns="0">
            <a:spAutoFit/>
          </a:bodyPr>
          <a:lstStyle/>
          <a:p>
            <a:pPr algn="l">
              <a:lnSpc>
                <a:spcPct val="112000"/>
              </a:lnSpc>
              <a:spcAft>
                <a:spcPts val="1000"/>
              </a:spcAft>
            </a:pPr>
            <a:r>
              <a:rPr sz="1350" b="1" i="0">
                <a:solidFill>
                  <a:srgbClr val="B4C94B"/>
                </a:solidFill>
                <a:latin typeface="Calibri"/>
              </a:rPr>
              <a:t>▪  </a:t>
            </a:r>
            <a:r>
              <a:rPr sz="1350" b="1" i="0">
                <a:solidFill>
                  <a:srgbClr val="F3ECDD"/>
                </a:solidFill>
                <a:latin typeface="Calibri"/>
              </a:rPr>
              <a:t>Run the causal forest subgroup analysis </a:t>
            </a:r>
            <a:r>
              <a:rPr sz="1350" b="0" i="0">
                <a:solidFill>
                  <a:srgbClr val="F3ECDD"/>
                </a:solidFill>
                <a:latin typeface="Calibri"/>
              </a:rPr>
              <a:t>to test whether AI guidance helps some participants (e.g., low baseline adherence) more than others.</a:t>
            </a:r>
          </a:p>
          <a:p>
            <a:pPr algn="l">
              <a:lnSpc>
                <a:spcPct val="112000"/>
              </a:lnSpc>
              <a:spcAft>
                <a:spcPts val="1000"/>
              </a:spcAft>
            </a:pPr>
            <a:r>
              <a:rPr sz="1350" b="1" i="0">
                <a:solidFill>
                  <a:srgbClr val="B4C94B"/>
                </a:solidFill>
                <a:latin typeface="Calibri"/>
              </a:rPr>
              <a:t>▪  </a:t>
            </a:r>
            <a:r>
              <a:rPr sz="1350" b="1" i="0">
                <a:solidFill>
                  <a:srgbClr val="F3ECDD"/>
                </a:solidFill>
                <a:latin typeface="Calibri"/>
              </a:rPr>
              <a:t>Replicate on real trial data: </a:t>
            </a:r>
            <a:r>
              <a:rPr sz="1350" b="0" i="0">
                <a:solidFill>
                  <a:srgbClr val="F3ECDD"/>
                </a:solidFill>
                <a:latin typeface="Calibri"/>
              </a:rPr>
              <a:t>every outcome here rests on a synthetic layer over a real baseline cohort.</a:t>
            </a:r>
          </a:p>
          <a:p>
            <a:pPr algn="l">
              <a:lnSpc>
                <a:spcPct val="112000"/>
              </a:lnSpc>
              <a:spcAft>
                <a:spcPts val="1000"/>
              </a:spcAft>
            </a:pPr>
            <a:r>
              <a:rPr sz="1350" b="1" i="0">
                <a:solidFill>
                  <a:srgbClr val="B4C94B"/>
                </a:solidFill>
                <a:latin typeface="Calibri"/>
              </a:rPr>
              <a:t>▪  </a:t>
            </a:r>
            <a:r>
              <a:rPr sz="1350" b="1" i="0">
                <a:solidFill>
                  <a:srgbClr val="F3ECDD"/>
                </a:solidFill>
                <a:latin typeface="Calibri"/>
              </a:rPr>
              <a:t>Study what drives adherence itself, </a:t>
            </a:r>
            <a:r>
              <a:rPr sz="1350" b="0" i="0">
                <a:solidFill>
                  <a:srgbClr val="F3ECDD"/>
                </a:solidFill>
                <a:latin typeface="Calibri"/>
              </a:rPr>
              <a:t>since it is the single strongest lever found in this entire analysis.</a:t>
            </a:r>
          </a:p>
          <a:p>
            <a:pPr algn="l">
              <a:lnSpc>
                <a:spcPct val="112000"/>
              </a:lnSpc>
              <a:spcAft>
                <a:spcPts val="1000"/>
              </a:spcAft>
            </a:pPr>
            <a:r>
              <a:rPr sz="1350" b="1" i="0">
                <a:solidFill>
                  <a:srgbClr val="B4C94B"/>
                </a:solidFill>
                <a:latin typeface="Calibri"/>
              </a:rPr>
              <a:t>▪  </a:t>
            </a:r>
            <a:r>
              <a:rPr sz="1350" b="1" i="0">
                <a:solidFill>
                  <a:srgbClr val="F3ECDD"/>
                </a:solidFill>
                <a:latin typeface="Calibri"/>
              </a:rPr>
              <a:t>Simplify future models: </a:t>
            </a:r>
            <a:r>
              <a:rPr sz="1350" b="0" i="0">
                <a:solidFill>
                  <a:srgbClr val="F3ECDD"/>
                </a:solidFill>
                <a:latin typeface="Calibri"/>
              </a:rPr>
              <a:t>the confirmed linear relationship means adherence can be modeled as a linear term, no polynomial expansion needed.</a:t>
            </a:r>
          </a:p>
        </p:txBody>
      </p:sp>
      <p:sp>
        <p:nvSpPr>
          <p:cNvPr id="14" name="Rectangle 13"/>
          <p:cNvSpPr/>
          <p:nvPr/>
        </p:nvSpPr>
        <p:spPr>
          <a:xfrm>
            <a:off x="777240" y="5989320"/>
            <a:ext cx="10607040" cy="19050"/>
          </a:xfrm>
          <a:prstGeom prst="rect">
            <a:avLst/>
          </a:prstGeom>
          <a:solidFill>
            <a:srgbClr val="9C6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144768"/>
            <a:ext cx="10607040" cy="548640"/>
          </a:xfrm>
          <a:prstGeom prst="rect">
            <a:avLst/>
          </a:prstGeom>
          <a:noFill/>
        </p:spPr>
        <p:txBody>
          <a:bodyPr wrap="square" anchor="t" lIns="0" rIns="0" tIns="0" bIns="0">
            <a:spAutoFit/>
          </a:bodyPr>
          <a:lstStyle/>
          <a:p>
            <a:r>
              <a:rPr sz="1450" b="1" i="1">
                <a:solidFill>
                  <a:srgbClr val="FFFFFF"/>
                </a:solidFill>
                <a:latin typeface="Calibri"/>
              </a:rPr>
              <a:t>Guidance, not just groceries, is what turns a produce box into a blood pressure outcome.</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