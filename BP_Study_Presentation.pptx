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33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AC5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fs-logo-color-f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640080"/>
            <a:ext cx="13716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777240"/>
            <a:ext cx="9052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F2DFA0"/>
                </a:solidFill>
                <a:latin typeface="Calibri"/>
              </a:rPr>
              <a:t>RESEARCH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97280"/>
            <a:ext cx="91440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Guided Nutrition Support and Blood Pressure Outcomes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697480"/>
            <a:ext cx="2194560" cy="38100"/>
          </a:xfrm>
          <a:prstGeom prst="rect">
            <a:avLst/>
          </a:prstGeom>
          <a:solidFill>
            <a:srgbClr val="EAC5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 i="1">
                <a:solidFill>
                  <a:srgbClr val="F2E3B0"/>
                </a:solidFill>
                <a:latin typeface="Calibri"/>
              </a:rPr>
              <a:t>Dietitian Counseling vs. an AI Nutrition Assistant vs. Unguided Farmer's-Market Produce Provision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98755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 b="1" i="0">
                <a:solidFill>
                  <a:srgbClr val="EAC548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F3ECDD"/>
                </a:solidFill>
                <a:latin typeface="Calibri"/>
              </a:rPr>
              <a:t>Produce-prescription programs are a growing food-as-medicine strategy for hypertension, but most just hand out food and hope for the best.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 b="1" i="0">
                <a:solidFill>
                  <a:srgbClr val="EAC548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F3ECDD"/>
                </a:solidFill>
                <a:latin typeface="Calibri"/>
              </a:rPr>
              <a:t>This study asks whether pairing produce with guidance, human or AI-delivered, actually improves outcomes over produce alone.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 b="1" i="0">
                <a:solidFill>
                  <a:srgbClr val="EAC548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F3ECDD"/>
                </a:solidFill>
                <a:latin typeface="Calibri"/>
              </a:rPr>
              <a:t>The motivation: dietitian access is costly and hard to scale. If AI guidance captures a meaningful share of that benefit, it points to a scalable path for food-as-medicine programs.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5989320"/>
            <a:ext cx="4023360" cy="19050"/>
          </a:xfrm>
          <a:prstGeom prst="rect">
            <a:avLst/>
          </a:prstGeom>
          <a:solidFill>
            <a:srgbClr val="9C6B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108192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Calibri"/>
              </a:rPr>
              <a:t>Tony</a:t>
            </a:r>
          </a:p>
          <a:p>
            <a:r>
              <a:rPr sz="1200" b="0" i="0">
                <a:solidFill>
                  <a:srgbClr val="E3D2B8"/>
                </a:solidFill>
                <a:latin typeface="Calibri"/>
              </a:rPr>
              <a:t>July 16, 2026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33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AC5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fs-logo-color-f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18872"/>
            <a:ext cx="813816" cy="8138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2801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F2DFA0"/>
                </a:solidFill>
                <a:latin typeface="Calibri"/>
              </a:rPr>
              <a:t>SECTION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1051560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</a:rPr>
              <a:t>Abstract &amp; Research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A8A8A8"/>
                </a:solidFill>
                <a:latin typeface="Calibri"/>
              </a:rPr>
              <a:t>2 /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A8A8A8"/>
                </a:solidFill>
                <a:latin typeface="Calibri"/>
              </a:rPr>
              <a:t>Farmer's Market Produce &amp; Blood Pressure Study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5394960" cy="4937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7E1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62763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 i="0">
                <a:solidFill>
                  <a:srgbClr val="733837"/>
                </a:solidFill>
                <a:latin typeface="Calibri"/>
              </a:rPr>
              <a:t>Abstract at a Glance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029968"/>
            <a:ext cx="914400" cy="31750"/>
          </a:xfrm>
          <a:prstGeom prst="rect">
            <a:avLst/>
          </a:prstGeom>
          <a:solidFill>
            <a:srgbClr val="B4C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240280"/>
            <a:ext cx="475488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350" b="1" i="0">
                <a:solidFill>
                  <a:srgbClr val="B4C94B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4A4A4A"/>
                </a:solidFill>
                <a:latin typeface="Calibri"/>
              </a:rPr>
              <a:t>300 participants, </a:t>
            </a:r>
            <a:r>
              <a:rPr sz="1350" b="0" i="0">
                <a:solidFill>
                  <a:srgbClr val="4A4A4A"/>
                </a:solidFill>
                <a:latin typeface="Calibri"/>
              </a:rPr>
              <a:t>3 arms (Dietitian, AI Assistant, Control), 100 each.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350" b="1" i="0">
                <a:solidFill>
                  <a:srgbClr val="B4C94B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4A4A4A"/>
                </a:solidFill>
                <a:latin typeface="Calibri"/>
              </a:rPr>
              <a:t>Real baseline + synthetic study layer: </a:t>
            </a:r>
            <a:r>
              <a:rPr sz="1350" b="0" i="0">
                <a:solidFill>
                  <a:srgbClr val="4A4A4A"/>
                </a:solidFill>
                <a:latin typeface="Calibri"/>
              </a:rPr>
              <a:t>demographics/BP from a real 70,000-record cardiovascular cohort.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350" b="1" i="0">
                <a:solidFill>
                  <a:srgbClr val="B4C94B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4A4A4A"/>
                </a:solidFill>
                <a:latin typeface="Calibri"/>
              </a:rPr>
              <a:t>Both guided arms beat control </a:t>
            </a:r>
            <a:r>
              <a:rPr sz="1350" b="0" i="0">
                <a:solidFill>
                  <a:srgbClr val="4A4A4A"/>
                </a:solidFill>
                <a:latin typeface="Calibri"/>
              </a:rPr>
              <a:t>on BP reduction (ANOVA, p &lt; 0.001 for both outcomes).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350" b="1" i="0">
                <a:solidFill>
                  <a:srgbClr val="B4C94B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4A4A4A"/>
                </a:solidFill>
                <a:latin typeface="Calibri"/>
              </a:rPr>
              <a:t>Effect survives adjustment </a:t>
            </a:r>
            <a:r>
              <a:rPr sz="1350" b="0" i="0">
                <a:solidFill>
                  <a:srgbClr val="4A4A4A"/>
                </a:solidFill>
                <a:latin typeface="Calibri"/>
              </a:rPr>
              <a:t>for adherence and baseline BP (ANCOVA), not just an adherence artifact.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350" b="1" i="0">
                <a:solidFill>
                  <a:srgbClr val="B4C94B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4A4A4A"/>
                </a:solidFill>
                <a:latin typeface="Calibri"/>
              </a:rPr>
              <a:t>Adherence is the strongest predictor </a:t>
            </a:r>
            <a:r>
              <a:rPr sz="1350" b="0" i="0">
                <a:solidFill>
                  <a:srgbClr val="4A4A4A"/>
                </a:solidFill>
                <a:latin typeface="Calibri"/>
              </a:rPr>
              <a:t>in every model tested, and the relationship is linear, not curved.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371600"/>
            <a:ext cx="5394960" cy="4937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7E1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62763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 i="0">
                <a:solidFill>
                  <a:srgbClr val="733837"/>
                </a:solidFill>
                <a:latin typeface="Calibri"/>
              </a:rPr>
              <a:t>Research Questions &amp; Hypotheses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2029968"/>
            <a:ext cx="914400" cy="31750"/>
          </a:xfrm>
          <a:prstGeom prst="rect">
            <a:avLst/>
          </a:prstGeom>
          <a:solidFill>
            <a:srgbClr val="EAC5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240280"/>
            <a:ext cx="475488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350" b="1" i="0">
                <a:solidFill>
                  <a:srgbClr val="EAC548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4A4A4A"/>
                </a:solidFill>
                <a:latin typeface="Calibri"/>
              </a:rPr>
              <a:t>Core question: </a:t>
            </a:r>
            <a:r>
              <a:rPr sz="1350" b="0" i="0">
                <a:solidFill>
                  <a:srgbClr val="4A4A4A"/>
                </a:solidFill>
                <a:latin typeface="Calibri"/>
              </a:rPr>
              <a:t>does guidance (human or AI) on top of produce provision change BP outcomes?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350" b="1" i="0">
                <a:solidFill>
                  <a:srgbClr val="EAC548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4A4A4A"/>
                </a:solidFill>
                <a:latin typeface="Calibri"/>
              </a:rPr>
              <a:t>H1: </a:t>
            </a:r>
            <a:r>
              <a:rPr sz="1350" b="0" i="0">
                <a:solidFill>
                  <a:srgbClr val="4A4A4A"/>
                </a:solidFill>
                <a:latin typeface="Calibri"/>
              </a:rPr>
              <a:t>guided support produces significantly greater BP reduction than unguided provision.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350" b="1" i="0">
                <a:solidFill>
                  <a:srgbClr val="EAC548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4A4A4A"/>
                </a:solidFill>
                <a:latin typeface="Calibri"/>
              </a:rPr>
              <a:t>H2: </a:t>
            </a:r>
            <a:r>
              <a:rPr sz="1350" b="0" i="0">
                <a:solidFill>
                  <a:srgbClr val="4A4A4A"/>
                </a:solidFill>
                <a:latin typeface="Calibri"/>
              </a:rPr>
              <a:t>the group effect is not fully explained by adherence alone.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350" b="1" i="0">
                <a:solidFill>
                  <a:srgbClr val="EAC548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4A4A4A"/>
                </a:solidFill>
                <a:latin typeface="Calibri"/>
              </a:rPr>
              <a:t>H3: </a:t>
            </a:r>
            <a:r>
              <a:rPr sz="1350" b="0" i="0">
                <a:solidFill>
                  <a:srgbClr val="4A4A4A"/>
                </a:solidFill>
                <a:latin typeface="Calibri"/>
              </a:rPr>
              <a:t>adherence percentage is the strongest single predictor of BP change.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350" b="1" i="0">
                <a:solidFill>
                  <a:srgbClr val="EAC548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4A4A4A"/>
                </a:solidFill>
                <a:latin typeface="Calibri"/>
              </a:rPr>
              <a:t>H4: </a:t>
            </a:r>
            <a:r>
              <a:rPr sz="1350" b="0" i="0">
                <a:solidFill>
                  <a:srgbClr val="4A4A4A"/>
                </a:solidFill>
                <a:latin typeface="Calibri"/>
              </a:rPr>
              <a:t>a tree-based model outperforms linear baselines, given the feature count.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33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AC5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fs-logo-color-f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18872"/>
            <a:ext cx="813816" cy="8138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2801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F2DFA0"/>
                </a:solidFill>
                <a:latin typeface="Calibri"/>
              </a:rPr>
              <a:t>SECTION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1051560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</a:rPr>
              <a:t>Data &amp; Methodology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A8A8A8"/>
                </a:solidFill>
                <a:latin typeface="Calibri"/>
              </a:rPr>
              <a:t>3 /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A8A8A8"/>
                </a:solidFill>
                <a:latin typeface="Calibri"/>
              </a:rPr>
              <a:t>Farmer's Market Produce &amp; Blood Pressure Study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25880"/>
            <a:ext cx="539496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1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325880"/>
            <a:ext cx="82296" cy="2331720"/>
          </a:xfrm>
          <a:prstGeom prst="rect">
            <a:avLst/>
          </a:prstGeom>
          <a:solidFill>
            <a:srgbClr val="B4C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1490472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50" b="1" i="0">
                <a:solidFill>
                  <a:srgbClr val="733837"/>
                </a:solidFill>
                <a:latin typeface="Calibri"/>
              </a:rPr>
              <a:t>Dataset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1892808"/>
            <a:ext cx="484632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00" b="1" i="0">
                <a:solidFill>
                  <a:srgbClr val="B4C94B"/>
                </a:solidFill>
                <a:latin typeface="Calibri"/>
              </a:rPr>
              <a:t>▪  </a:t>
            </a:r>
            <a:r>
              <a:rPr sz="1200" b="1" i="0">
                <a:solidFill>
                  <a:srgbClr val="4A4A4A"/>
                </a:solidFill>
                <a:latin typeface="Calibri"/>
              </a:rPr>
              <a:t>300 rows, 57 columns. </a:t>
            </a:r>
            <a:r>
              <a:rPr sz="1200" b="0" i="0">
                <a:solidFill>
                  <a:srgbClr val="4A4A4A"/>
                </a:solidFill>
                <a:latin typeface="Calibri"/>
              </a:rPr>
              <a:t>100 participants per arm, no missing values.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00" b="1" i="0">
                <a:solidFill>
                  <a:srgbClr val="B4C94B"/>
                </a:solidFill>
                <a:latin typeface="Calibri"/>
              </a:rPr>
              <a:t>▪  </a:t>
            </a:r>
            <a:r>
              <a:rPr sz="1200" b="1" i="0">
                <a:solidFill>
                  <a:srgbClr val="4A4A4A"/>
                </a:solidFill>
                <a:latin typeface="Calibri"/>
              </a:rPr>
              <a:t>Baseline (real): </a:t>
            </a:r>
            <a:r>
              <a:rPr sz="1200" b="0" i="0">
                <a:solidFill>
                  <a:srgbClr val="4A4A4A"/>
                </a:solidFill>
                <a:latin typeface="Calibri"/>
              </a:rPr>
              <a:t>age, sex, BMI, cholesterol, glucose, smoking, activity, baseline BP.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00" b="1" i="0">
                <a:solidFill>
                  <a:srgbClr val="B4C94B"/>
                </a:solidFill>
                <a:latin typeface="Calibri"/>
              </a:rPr>
              <a:t>▪  </a:t>
            </a:r>
            <a:r>
              <a:rPr sz="1200" b="1" i="0">
                <a:solidFill>
                  <a:srgbClr val="4A4A4A"/>
                </a:solidFill>
                <a:latin typeface="Calibri"/>
              </a:rPr>
              <a:t>Study layer (synthetic): </a:t>
            </a:r>
            <a:r>
              <a:rPr sz="1200" b="0" i="0">
                <a:solidFill>
                  <a:srgbClr val="4A4A4A"/>
                </a:solidFill>
                <a:latin typeface="Calibri"/>
              </a:rPr>
              <a:t>group, 34 produce_item_kg columns, adherence %, guidance sessions, follow-up BP.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25880"/>
            <a:ext cx="539496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1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325880"/>
            <a:ext cx="82296" cy="2331720"/>
          </a:xfrm>
          <a:prstGeom prst="rect">
            <a:avLst/>
          </a:prstGeom>
          <a:solidFill>
            <a:srgbClr val="EAC5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8" y="1490472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50" b="1" i="0">
                <a:solidFill>
                  <a:srgbClr val="733837"/>
                </a:solidFill>
                <a:latin typeface="Calibri"/>
              </a:rPr>
              <a:t>Data Preparation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1892808"/>
            <a:ext cx="484632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00" b="1" i="0">
                <a:solidFill>
                  <a:srgbClr val="EAC548"/>
                </a:solidFill>
                <a:latin typeface="Calibri"/>
              </a:rPr>
              <a:t>▪  </a:t>
            </a:r>
            <a:r>
              <a:rPr sz="1200" b="1" i="0">
                <a:solidFill>
                  <a:srgbClr val="4A4A4A"/>
                </a:solidFill>
                <a:latin typeface="Calibri"/>
              </a:rPr>
              <a:t>Leakage columns removed: </a:t>
            </a:r>
            <a:r>
              <a:rPr sz="1200" b="0" i="0">
                <a:solidFill>
                  <a:srgbClr val="4A4A4A"/>
                </a:solidFill>
                <a:latin typeface="Calibri"/>
              </a:rPr>
              <a:t>follow-up BP, participant ID excluded from model features.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00" b="1" i="0">
                <a:solidFill>
                  <a:srgbClr val="EAC548"/>
                </a:solidFill>
                <a:latin typeface="Calibri"/>
              </a:rPr>
              <a:t>▪  </a:t>
            </a:r>
            <a:r>
              <a:rPr sz="1200" b="1" i="0">
                <a:solidFill>
                  <a:srgbClr val="4A4A4A"/>
                </a:solidFill>
                <a:latin typeface="Calibri"/>
              </a:rPr>
              <a:t>Preprocessing pipeline: </a:t>
            </a:r>
            <a:r>
              <a:rPr sz="1200" b="0" i="0">
                <a:solidFill>
                  <a:srgbClr val="4A4A4A"/>
                </a:solidFill>
                <a:latin typeface="Calibri"/>
              </a:rPr>
              <a:t>StandardScaler on numerics, one-hot encoding on categoricals.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00" b="1" i="0">
                <a:solidFill>
                  <a:srgbClr val="EAC548"/>
                </a:solidFill>
                <a:latin typeface="Calibri"/>
              </a:rPr>
              <a:t>▪  </a:t>
            </a:r>
            <a:r>
              <a:rPr sz="1200" b="1" i="0">
                <a:solidFill>
                  <a:srgbClr val="4A4A4A"/>
                </a:solidFill>
                <a:latin typeface="Calibri"/>
              </a:rPr>
              <a:t>Adherence kept as a covariate </a:t>
            </a:r>
            <a:r>
              <a:rPr sz="1200" b="0" i="0">
                <a:solidFill>
                  <a:srgbClr val="4A4A4A"/>
                </a:solidFill>
                <a:latin typeface="Calibri"/>
              </a:rPr>
              <a:t>throughout, never averaged away.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931920"/>
            <a:ext cx="539496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1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931920"/>
            <a:ext cx="82296" cy="2331720"/>
          </a:xfrm>
          <a:prstGeom prst="rect">
            <a:avLst/>
          </a:prstGeom>
          <a:solidFill>
            <a:srgbClr val="B4C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4096512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50" b="1" i="0">
                <a:solidFill>
                  <a:srgbClr val="733837"/>
                </a:solidFill>
                <a:latin typeface="Calibri"/>
              </a:rPr>
              <a:t>Analytical Methods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4498848"/>
            <a:ext cx="484632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00" b="1" i="0">
                <a:solidFill>
                  <a:srgbClr val="B4C94B"/>
                </a:solidFill>
                <a:latin typeface="Calibri"/>
              </a:rPr>
              <a:t>▪  </a:t>
            </a:r>
            <a:r>
              <a:rPr sz="1200" b="1" i="0">
                <a:solidFill>
                  <a:srgbClr val="4A4A4A"/>
                </a:solidFill>
                <a:latin typeface="Calibri"/>
              </a:rPr>
              <a:t>Hypothesis testing: </a:t>
            </a:r>
            <a:r>
              <a:rPr sz="1200" b="0" i="0">
                <a:solidFill>
                  <a:srgbClr val="4A4A4A"/>
                </a:solidFill>
                <a:latin typeface="Calibri"/>
              </a:rPr>
              <a:t>one-way ANOVA + Kruskal-Wallis, then ANCOVA (group + adherence + baseline BP).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00" b="1" i="0">
                <a:solidFill>
                  <a:srgbClr val="B4C94B"/>
                </a:solidFill>
                <a:latin typeface="Calibri"/>
              </a:rPr>
              <a:t>▪  </a:t>
            </a:r>
            <a:r>
              <a:rPr sz="1200" b="1" i="0">
                <a:solidFill>
                  <a:srgbClr val="4A4A4A"/>
                </a:solidFill>
                <a:latin typeface="Calibri"/>
              </a:rPr>
              <a:t>Predictive modeling: </a:t>
            </a:r>
            <a:r>
              <a:rPr sz="1200" b="0" i="0">
                <a:solidFill>
                  <a:srgbClr val="4A4A4A"/>
                </a:solidFill>
                <a:latin typeface="Calibri"/>
              </a:rPr>
              <a:t>Linear, Ridge, Random Forest, XGBoost under 5-fold CV (R², RMSE, MAE).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00" b="1" i="0">
                <a:solidFill>
                  <a:srgbClr val="B4C94B"/>
                </a:solidFill>
                <a:latin typeface="Calibri"/>
              </a:rPr>
              <a:t>▪  </a:t>
            </a:r>
            <a:r>
              <a:rPr sz="1200" b="1" i="0">
                <a:solidFill>
                  <a:srgbClr val="4A4A4A"/>
                </a:solidFill>
                <a:latin typeface="Calibri"/>
              </a:rPr>
              <a:t>Functional-form check: </a:t>
            </a:r>
            <a:r>
              <a:rPr sz="1200" b="0" i="0">
                <a:solidFill>
                  <a:srgbClr val="4A4A4A"/>
                </a:solidFill>
                <a:latin typeface="Calibri"/>
              </a:rPr>
              <a:t>linear vs. polynomial fits on adherence vs. outcome, pooled and per arm.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931920"/>
            <a:ext cx="539496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1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3931920"/>
            <a:ext cx="82296" cy="2331720"/>
          </a:xfrm>
          <a:prstGeom prst="rect">
            <a:avLst/>
          </a:prstGeom>
          <a:solidFill>
            <a:srgbClr val="EAC5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0528" y="4096512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50" b="1" i="0">
                <a:solidFill>
                  <a:srgbClr val="733837"/>
                </a:solidFill>
                <a:latin typeface="Calibri"/>
              </a:rPr>
              <a:t>Why These Methods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498848"/>
            <a:ext cx="484632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00" b="1" i="0">
                <a:solidFill>
                  <a:srgbClr val="EAC548"/>
                </a:solidFill>
                <a:latin typeface="Calibri"/>
              </a:rPr>
              <a:t>▪  </a:t>
            </a:r>
            <a:r>
              <a:rPr sz="1200" b="1" i="0">
                <a:solidFill>
                  <a:srgbClr val="4A4A4A"/>
                </a:solidFill>
                <a:latin typeface="Calibri"/>
              </a:rPr>
              <a:t>ANCOVA isolates the guidance effect </a:t>
            </a:r>
            <a:r>
              <a:rPr sz="1200" b="0" i="0">
                <a:solidFill>
                  <a:srgbClr val="4A4A4A"/>
                </a:solidFill>
                <a:latin typeface="Calibri"/>
              </a:rPr>
              <a:t>from the adherence confound sitting underneath it.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00" b="1" i="0">
                <a:solidFill>
                  <a:srgbClr val="EAC548"/>
                </a:solidFill>
                <a:latin typeface="Calibri"/>
              </a:rPr>
              <a:t>▪  </a:t>
            </a:r>
            <a:r>
              <a:rPr sz="1200" b="1" i="0">
                <a:solidFill>
                  <a:srgbClr val="4A4A4A"/>
                </a:solidFill>
                <a:latin typeface="Calibri"/>
              </a:rPr>
              <a:t>Cross-validated model comparison </a:t>
            </a:r>
            <a:r>
              <a:rPr sz="1200" b="0" i="0">
                <a:solidFill>
                  <a:srgbClr val="4A4A4A"/>
                </a:solidFill>
                <a:latin typeface="Calibri"/>
              </a:rPr>
              <a:t>avoids picking a winner off one lucky split, with only 300 rows.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00" b="1" i="0">
                <a:solidFill>
                  <a:srgbClr val="EAC548"/>
                </a:solidFill>
                <a:latin typeface="Calibri"/>
              </a:rPr>
              <a:t>▪  </a:t>
            </a:r>
            <a:r>
              <a:rPr sz="1200" b="1" i="0">
                <a:solidFill>
                  <a:srgbClr val="4A4A4A"/>
                </a:solidFill>
                <a:latin typeface="Calibri"/>
              </a:rPr>
              <a:t>The functional-form check </a:t>
            </a:r>
            <a:r>
              <a:rPr sz="1200" b="0" i="0">
                <a:solidFill>
                  <a:srgbClr val="4A4A4A"/>
                </a:solidFill>
                <a:latin typeface="Calibri"/>
              </a:rPr>
              <a:t>avoids assuming linearity instead of testing it.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33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AC5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fs-logo-color-f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18872"/>
            <a:ext cx="813816" cy="8138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2801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F2DFA0"/>
                </a:solidFill>
                <a:latin typeface="Calibri"/>
              </a:rPr>
              <a:t>SECTION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1051560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</a:rPr>
              <a:t>Key 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A8A8A8"/>
                </a:solidFill>
                <a:latin typeface="Calibri"/>
              </a:rPr>
              <a:t>4 /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A8A8A8"/>
                </a:solidFill>
                <a:latin typeface="Calibri"/>
              </a:rPr>
              <a:t>Farmer's Market Produce &amp; Blood Pressure Study</a:t>
            </a:r>
          </a:p>
        </p:txBody>
      </p:sp>
      <p:pic>
        <p:nvPicPr>
          <p:cNvPr id="10" name="Picture 9" descr="01_box_bp_change_by_gro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9221" y="1481328"/>
            <a:ext cx="5273975" cy="3246120"/>
          </a:xfrm>
          <a:prstGeom prst="rect">
            <a:avLst/>
          </a:prstGeom>
        </p:spPr>
      </p:pic>
      <p:pic>
        <p:nvPicPr>
          <p:cNvPr id="11" name="Picture 10" descr="07_regression_gener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3236" y="1481328"/>
            <a:ext cx="3879238" cy="32461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59221" y="4837176"/>
            <a:ext cx="5273975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733837"/>
                </a:solidFill>
                <a:latin typeface="Calibri"/>
              </a:rPr>
              <a:t>BP Change by Study Arm</a:t>
            </a:r>
          </a:p>
          <a:p>
            <a:pPr>
              <a:lnSpc>
                <a:spcPct val="110000"/>
              </a:lnSpc>
              <a:spcBef>
                <a:spcPts val="300"/>
              </a:spcBef>
            </a:pPr>
            <a:r>
              <a:rPr sz="1150" b="0" i="0">
                <a:solidFill>
                  <a:srgbClr val="4A4A4A"/>
                </a:solidFill>
                <a:latin typeface="Calibri"/>
              </a:rPr>
              <a:t>Dietitian shows the largest drop, Control hovers near zero, and AI Assistant lands in between on both systolic and diastolic change.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53236" y="4837176"/>
            <a:ext cx="3879237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733837"/>
                </a:solidFill>
                <a:latin typeface="Calibri"/>
              </a:rPr>
              <a:t>Adherence Drives the Outcome</a:t>
            </a:r>
          </a:p>
          <a:p>
            <a:pPr>
              <a:lnSpc>
                <a:spcPct val="110000"/>
              </a:lnSpc>
              <a:spcBef>
                <a:spcPts val="300"/>
              </a:spcBef>
            </a:pPr>
            <a:r>
              <a:rPr sz="1150" b="0" i="0">
                <a:solidFill>
                  <a:srgbClr val="4A4A4A"/>
                </a:solidFill>
                <a:latin typeface="Calibri"/>
              </a:rPr>
              <a:t>A confirmed linear fit (R² = 0.45, p &lt; 0.001): every point of adherence tracks a real, measurable drop in systolic BP.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33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AC5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fs-logo-color-f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18872"/>
            <a:ext cx="813816" cy="8138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2801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F2DFA0"/>
                </a:solidFill>
                <a:latin typeface="Calibri"/>
              </a:rPr>
              <a:t>SECTION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1051560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</a:rPr>
              <a:t>Results &amp;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A8A8A8"/>
                </a:solidFill>
                <a:latin typeface="Calibri"/>
              </a:rPr>
              <a:t>5 /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A8A8A8"/>
                </a:solidFill>
                <a:latin typeface="Calibri"/>
              </a:rPr>
              <a:t>Farmer's Market Produce &amp; Blood Pressure Study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5394960" cy="4937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7E1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62763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50" b="1" i="0">
                <a:solidFill>
                  <a:srgbClr val="733837"/>
                </a:solidFill>
                <a:latin typeface="Calibri"/>
              </a:rPr>
              <a:t>Were the Hypotheses Supported?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029968"/>
            <a:ext cx="914400" cy="31750"/>
          </a:xfrm>
          <a:prstGeom prst="rect">
            <a:avLst/>
          </a:prstGeom>
          <a:solidFill>
            <a:srgbClr val="B4C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240280"/>
            <a:ext cx="475488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300" b="1" i="0">
                <a:solidFill>
                  <a:srgbClr val="B4C94B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4A4A4A"/>
                </a:solidFill>
                <a:latin typeface="Calibri"/>
              </a:rPr>
              <a:t>H1 &amp; H2 supported: </a:t>
            </a:r>
            <a:r>
              <a:rPr sz="1300" b="0" i="0">
                <a:solidFill>
                  <a:srgbClr val="4A4A4A"/>
                </a:solidFill>
                <a:latin typeface="Calibri"/>
              </a:rPr>
              <a:t>guidance produces a real, significant effect that survives ANCOVA adjustment for adherence.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300" b="1" i="0">
                <a:solidFill>
                  <a:srgbClr val="B4C94B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4A4A4A"/>
                </a:solidFill>
                <a:latin typeface="Calibri"/>
              </a:rPr>
              <a:t>H3 supported: </a:t>
            </a:r>
            <a:r>
              <a:rPr sz="1300" b="0" i="0">
                <a:solidFill>
                  <a:srgbClr val="4A4A4A"/>
                </a:solidFill>
                <a:latin typeface="Calibri"/>
              </a:rPr>
              <a:t>adherence is the top predictor in every model and every analysis lens, by a wide margin.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300" b="1" i="0">
                <a:solidFill>
                  <a:srgbClr val="B4C94B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4A4A4A"/>
                </a:solidFill>
                <a:latin typeface="Calibri"/>
              </a:rPr>
              <a:t>H4 partially supported: </a:t>
            </a:r>
            <a:r>
              <a:rPr sz="1300" b="0" i="0">
                <a:solidFill>
                  <a:srgbClr val="4A4A4A"/>
                </a:solidFill>
                <a:latin typeface="Calibri"/>
              </a:rPr>
              <a:t>Random Forest wins, but only modestly, and the edge comes from variable interactions, not curvature in the adherence relationship itself.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300" b="1" i="0">
                <a:solidFill>
                  <a:srgbClr val="B4C94B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4A4A4A"/>
                </a:solidFill>
                <a:latin typeface="Calibri"/>
              </a:rPr>
              <a:t>AI Assistant captures a real but partial share </a:t>
            </a:r>
            <a:r>
              <a:rPr sz="1300" b="0" i="0">
                <a:solidFill>
                  <a:srgbClr val="4A4A4A"/>
                </a:solidFill>
                <a:latin typeface="Calibri"/>
              </a:rPr>
              <a:t>of the Dietitian benefit, suggesting non-human guidance can meaningfully move the needle.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371600"/>
            <a:ext cx="5394960" cy="4937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7E1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62763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50" b="1" i="0">
                <a:solidFill>
                  <a:srgbClr val="733837"/>
                </a:solidFill>
                <a:latin typeface="Calibri"/>
              </a:rPr>
              <a:t>Notable Patterns &amp; Limitations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2029968"/>
            <a:ext cx="914400" cy="31750"/>
          </a:xfrm>
          <a:prstGeom prst="rect">
            <a:avLst/>
          </a:prstGeom>
          <a:solidFill>
            <a:srgbClr val="EAC5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240280"/>
            <a:ext cx="475488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300" b="1" i="0">
                <a:solidFill>
                  <a:srgbClr val="EAC548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4A4A4A"/>
                </a:solidFill>
                <a:latin typeface="Calibri"/>
              </a:rPr>
              <a:t>Unexpected: </a:t>
            </a:r>
            <a:r>
              <a:rPr sz="1300" b="0" i="0">
                <a:solidFill>
                  <a:srgbClr val="4A4A4A"/>
                </a:solidFill>
                <a:latin typeface="Calibri"/>
              </a:rPr>
              <a:t>individual produce items (kale, beets, etc.) show only weak, noisy correlations, and no single vegetable stands out.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300" b="1" i="0">
                <a:solidFill>
                  <a:srgbClr val="EAC548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4A4A4A"/>
                </a:solidFill>
                <a:latin typeface="Calibri"/>
              </a:rPr>
              <a:t>Diastolic modeling is weaker </a:t>
            </a:r>
            <a:r>
              <a:rPr sz="1300" b="0" i="0">
                <a:solidFill>
                  <a:srgbClr val="4A4A4A"/>
                </a:solidFill>
                <a:latin typeface="Calibri"/>
              </a:rPr>
              <a:t>than systolic (held-out R² = 0.24 vs. 0.45); treat diastolic predictions with more caution.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300" b="1" i="0">
                <a:solidFill>
                  <a:srgbClr val="EAC548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4A4A4A"/>
                </a:solidFill>
                <a:latin typeface="Calibri"/>
              </a:rPr>
              <a:t>Outcome data is synthetic, </a:t>
            </a:r>
            <a:r>
              <a:rPr sz="1300" b="0" i="0">
                <a:solidFill>
                  <a:srgbClr val="4A4A4A"/>
                </a:solidFill>
                <a:latin typeface="Calibri"/>
              </a:rPr>
              <a:t>layered on a real baseline cohort, so this is a methodology demonstration, not a clinical result.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300" b="1" i="0">
                <a:solidFill>
                  <a:srgbClr val="EAC548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4A4A4A"/>
                </a:solidFill>
                <a:latin typeface="Calibri"/>
              </a:rPr>
              <a:t>Causal subgroup analysis </a:t>
            </a:r>
            <a:r>
              <a:rPr sz="1300" b="0" i="0">
                <a:solidFill>
                  <a:srgbClr val="4A4A4A"/>
                </a:solidFill>
                <a:latin typeface="Calibri"/>
              </a:rPr>
              <a:t>(CausalForestDML) was planned but not run in this environment; current importances are predictive, not causal.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33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AC5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fs-logo-color-f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457200"/>
            <a:ext cx="1051560" cy="1051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0292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F2DFA0"/>
                </a:solidFill>
                <a:latin typeface="Calibri"/>
              </a:rPr>
              <a:t>SECTION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417320"/>
            <a:ext cx="2194560" cy="38100"/>
          </a:xfrm>
          <a:prstGeom prst="rect">
            <a:avLst/>
          </a:prstGeom>
          <a:solidFill>
            <a:srgbClr val="EAC5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5349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2DFA0"/>
                </a:solidFill>
                <a:latin typeface="Calibri"/>
              </a:rPr>
              <a:t>Main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53492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300" b="1" i="0">
                <a:solidFill>
                  <a:srgbClr val="EAC548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F3ECDD"/>
                </a:solidFill>
                <a:latin typeface="Calibri"/>
              </a:rPr>
              <a:t>Guidance works: </a:t>
            </a:r>
            <a:r>
              <a:rPr sz="1300" b="0" i="0">
                <a:solidFill>
                  <a:srgbClr val="F3ECDD"/>
                </a:solidFill>
                <a:latin typeface="Calibri"/>
              </a:rPr>
              <a:t>dietitian or AI support drives significantly larger BP reductions than produce alone, even after controlling for adherence.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300" b="1" i="0">
                <a:solidFill>
                  <a:srgbClr val="EAC548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F3ECDD"/>
                </a:solidFill>
                <a:latin typeface="Calibri"/>
              </a:rPr>
              <a:t>Adherence is the lever: </a:t>
            </a:r>
            <a:r>
              <a:rPr sz="1300" b="0" i="0">
                <a:solidFill>
                  <a:srgbClr val="F3ECDD"/>
                </a:solidFill>
                <a:latin typeface="Calibri"/>
              </a:rPr>
              <a:t>it matters more than any individual produce item, regardless of arm.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300" b="1" i="0">
                <a:solidFill>
                  <a:srgbClr val="EAC548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F3ECDD"/>
                </a:solidFill>
                <a:latin typeface="Calibri"/>
              </a:rPr>
              <a:t>AI guidance is a viable, scalable complement </a:t>
            </a:r>
            <a:r>
              <a:rPr sz="1300" b="0" i="0">
                <a:solidFill>
                  <a:srgbClr val="F3ECDD"/>
                </a:solidFill>
                <a:latin typeface="Calibri"/>
              </a:rPr>
              <a:t>to costly one-on-one dietitian access, not a full replacement, but a meaningful partial substitute.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5349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2DFA0"/>
                </a:solidFill>
                <a:latin typeface="Calibri"/>
              </a:rPr>
              <a:t>Practical 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54880"/>
            <a:ext cx="5349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50" b="1" i="0">
                <a:solidFill>
                  <a:srgbClr val="EAC548"/>
                </a:solidFill>
                <a:latin typeface="Calibri"/>
              </a:rPr>
              <a:t>▪  </a:t>
            </a:r>
            <a:r>
              <a:rPr sz="1350" b="0" i="0">
                <a:solidFill>
                  <a:srgbClr val="F3ECDD"/>
                </a:solidFill>
                <a:latin typeface="Calibri"/>
              </a:rPr>
              <a:t>Produce-prescription programs should pair boxes with structured guidance, human or automated, rather than provision alone.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50" b="1" i="0">
                <a:solidFill>
                  <a:srgbClr val="EAC548"/>
                </a:solidFill>
                <a:latin typeface="Calibri"/>
              </a:rPr>
              <a:t>▪  </a:t>
            </a:r>
            <a:r>
              <a:rPr sz="1350" b="0" i="0">
                <a:solidFill>
                  <a:srgbClr val="F3ECDD"/>
                </a:solidFill>
                <a:latin typeface="Calibri"/>
              </a:rPr>
              <a:t>Even a lightweight AI nutrition assistant appears to meaningfully improve outcomes over no guidance at all.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737360"/>
            <a:ext cx="5349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2DFA0"/>
                </a:solidFill>
                <a:latin typeface="Calibri"/>
              </a:rPr>
              <a:t>Recommendations &amp; Future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194560"/>
            <a:ext cx="534924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50" b="1" i="0">
                <a:solidFill>
                  <a:srgbClr val="B4C94B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F3ECDD"/>
                </a:solidFill>
                <a:latin typeface="Calibri"/>
              </a:rPr>
              <a:t>Run the causal forest subgroup analysis </a:t>
            </a:r>
            <a:r>
              <a:rPr sz="1350" b="0" i="0">
                <a:solidFill>
                  <a:srgbClr val="F3ECDD"/>
                </a:solidFill>
                <a:latin typeface="Calibri"/>
              </a:rPr>
              <a:t>to test whether AI guidance helps some participants (e.g., low baseline adherence) more than others.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50" b="1" i="0">
                <a:solidFill>
                  <a:srgbClr val="B4C94B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F3ECDD"/>
                </a:solidFill>
                <a:latin typeface="Calibri"/>
              </a:rPr>
              <a:t>Replicate on real trial data: </a:t>
            </a:r>
            <a:r>
              <a:rPr sz="1350" b="0" i="0">
                <a:solidFill>
                  <a:srgbClr val="F3ECDD"/>
                </a:solidFill>
                <a:latin typeface="Calibri"/>
              </a:rPr>
              <a:t>every outcome here rests on a synthetic layer over a real baseline cohort.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50" b="1" i="0">
                <a:solidFill>
                  <a:srgbClr val="B4C94B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F3ECDD"/>
                </a:solidFill>
                <a:latin typeface="Calibri"/>
              </a:rPr>
              <a:t>Study what drives adherence itself, </a:t>
            </a:r>
            <a:r>
              <a:rPr sz="1350" b="0" i="0">
                <a:solidFill>
                  <a:srgbClr val="F3ECDD"/>
                </a:solidFill>
                <a:latin typeface="Calibri"/>
              </a:rPr>
              <a:t>since it is the single strongest lever found in this entire analysis.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50" b="1" i="0">
                <a:solidFill>
                  <a:srgbClr val="B4C94B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F3ECDD"/>
                </a:solidFill>
                <a:latin typeface="Calibri"/>
              </a:rPr>
              <a:t>Simplify future models: </a:t>
            </a:r>
            <a:r>
              <a:rPr sz="1350" b="0" i="0">
                <a:solidFill>
                  <a:srgbClr val="F3ECDD"/>
                </a:solidFill>
                <a:latin typeface="Calibri"/>
              </a:rPr>
              <a:t>the confirmed linear relationship means adherence can be modeled as a linear term, no polynomial expansion needed.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5989320"/>
            <a:ext cx="10607040" cy="19050"/>
          </a:xfrm>
          <a:prstGeom prst="rect">
            <a:avLst/>
          </a:prstGeom>
          <a:solidFill>
            <a:srgbClr val="9C6B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61447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50" b="1" i="1">
                <a:solidFill>
                  <a:srgbClr val="FFFFFF"/>
                </a:solidFill>
                <a:latin typeface="Calibri"/>
              </a:rPr>
              <a:t>Guidance, not just groceries, is what turns a produce box into a blood pressure outcome.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